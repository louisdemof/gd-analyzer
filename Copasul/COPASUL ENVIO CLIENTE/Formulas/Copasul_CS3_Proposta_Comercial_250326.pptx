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4"/>
    <p:sldMasterId id="2147483676" r:id="rId5"/>
    <p:sldMasterId id="2147483664" r:id="rId6"/>
    <p:sldMasterId id="2147483650" r:id="rId7"/>
    <p:sldMasterId id="2147483661" r:id="rId8"/>
    <p:sldMasterId id="2147483680" r:id="rId9"/>
  </p:sldMasterIdLst>
  <p:notesMasterIdLst>
    <p:notesMasterId r:id="rId25"/>
  </p:notesMasterIdLst>
  <p:sldIdLst>
    <p:sldId id="289" r:id="rId10"/>
    <p:sldId id="278" r:id="rId11"/>
    <p:sldId id="279" r:id="rId12"/>
    <p:sldId id="291" r:id="rId13"/>
    <p:sldId id="315" r:id="rId14"/>
    <p:sldId id="280" r:id="rId15"/>
    <p:sldId id="281" r:id="rId16"/>
    <p:sldId id="282" r:id="rId17"/>
    <p:sldId id="294" r:id="rId18"/>
    <p:sldId id="320" r:id="rId19"/>
    <p:sldId id="283" r:id="rId20"/>
    <p:sldId id="284" r:id="rId21"/>
    <p:sldId id="285" r:id="rId22"/>
    <p:sldId id="295" r:id="rId23"/>
    <p:sldId id="287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92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6F6944-DDD3-48AF-9481-D6BEF361A519}" v="8" dt="2026-03-25T17:51:19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 Helexia (c/ Plin 20%)</c:v>
                </c:pt>
              </c:strCache>
            </c:strRef>
          </c:tx>
          <c:spPr>
            <a:solidFill>
              <a:srgbClr val="6692A8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Jun/26</c:v>
                </c:pt>
                <c:pt idx="1">
                  <c:v>Jul/26</c:v>
                </c:pt>
                <c:pt idx="2">
                  <c:v>Ago/26</c:v>
                </c:pt>
                <c:pt idx="3">
                  <c:v>Set/26</c:v>
                </c:pt>
                <c:pt idx="4">
                  <c:v>Out/26</c:v>
                </c:pt>
                <c:pt idx="5">
                  <c:v>Nov/26</c:v>
                </c:pt>
                <c:pt idx="6">
                  <c:v>Dez/26</c:v>
                </c:pt>
                <c:pt idx="7">
                  <c:v>Jan/27</c:v>
                </c:pt>
                <c:pt idx="8">
                  <c:v>Fev/27</c:v>
                </c:pt>
                <c:pt idx="9">
                  <c:v>Mar/27</c:v>
                </c:pt>
                <c:pt idx="10">
                  <c:v>Abr/27</c:v>
                </c:pt>
                <c:pt idx="11">
                  <c:v>Mai/27</c:v>
                </c:pt>
                <c:pt idx="12">
                  <c:v>Jun/27</c:v>
                </c:pt>
                <c:pt idx="13">
                  <c:v>Jul/27</c:v>
                </c:pt>
                <c:pt idx="14">
                  <c:v>Ago/27</c:v>
                </c:pt>
                <c:pt idx="15">
                  <c:v>Set/27</c:v>
                </c:pt>
                <c:pt idx="16">
                  <c:v>Out/27</c:v>
                </c:pt>
                <c:pt idx="17">
                  <c:v>Nov/27</c:v>
                </c:pt>
                <c:pt idx="18">
                  <c:v>Dez/27</c:v>
                </c:pt>
                <c:pt idx="19">
                  <c:v>Jan/28</c:v>
                </c:pt>
                <c:pt idx="20">
                  <c:v>Fev/28</c:v>
                </c:pt>
                <c:pt idx="21">
                  <c:v>Mar/28</c:v>
                </c:pt>
                <c:pt idx="22">
                  <c:v>Abr/28</c:v>
                </c:pt>
                <c:pt idx="23">
                  <c:v>Mai/28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29918</c:v>
                </c:pt>
                <c:pt idx="1">
                  <c:v>231417</c:v>
                </c:pt>
                <c:pt idx="2">
                  <c:v>156566</c:v>
                </c:pt>
                <c:pt idx="3">
                  <c:v>42621</c:v>
                </c:pt>
                <c:pt idx="4">
                  <c:v>43358</c:v>
                </c:pt>
                <c:pt idx="5">
                  <c:v>43215</c:v>
                </c:pt>
                <c:pt idx="6">
                  <c:v>44664</c:v>
                </c:pt>
                <c:pt idx="7">
                  <c:v>42490</c:v>
                </c:pt>
                <c:pt idx="8">
                  <c:v>45037</c:v>
                </c:pt>
                <c:pt idx="9">
                  <c:v>210051</c:v>
                </c:pt>
                <c:pt idx="10">
                  <c:v>35172</c:v>
                </c:pt>
                <c:pt idx="11">
                  <c:v>32725</c:v>
                </c:pt>
                <c:pt idx="12">
                  <c:v>70862</c:v>
                </c:pt>
                <c:pt idx="13">
                  <c:v>281699</c:v>
                </c:pt>
                <c:pt idx="14">
                  <c:v>161738</c:v>
                </c:pt>
                <c:pt idx="15">
                  <c:v>43688</c:v>
                </c:pt>
                <c:pt idx="16">
                  <c:v>44442</c:v>
                </c:pt>
                <c:pt idx="17">
                  <c:v>44293</c:v>
                </c:pt>
                <c:pt idx="18">
                  <c:v>45782</c:v>
                </c:pt>
                <c:pt idx="19">
                  <c:v>42490</c:v>
                </c:pt>
                <c:pt idx="20">
                  <c:v>45037</c:v>
                </c:pt>
                <c:pt idx="21">
                  <c:v>214188</c:v>
                </c:pt>
                <c:pt idx="22">
                  <c:v>35172</c:v>
                </c:pt>
                <c:pt idx="23">
                  <c:v>32725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7F-4BCB-9008-41C74A66AE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PPA Helexia</c:v>
                </c:pt>
              </c:strCache>
            </c:strRef>
          </c:tx>
          <c:spPr>
            <a:solidFill>
              <a:srgbClr val="C5DA37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Jun/26</c:v>
                </c:pt>
                <c:pt idx="1">
                  <c:v>Jul/26</c:v>
                </c:pt>
                <c:pt idx="2">
                  <c:v>Ago/26</c:v>
                </c:pt>
                <c:pt idx="3">
                  <c:v>Set/26</c:v>
                </c:pt>
                <c:pt idx="4">
                  <c:v>Out/26</c:v>
                </c:pt>
                <c:pt idx="5">
                  <c:v>Nov/26</c:v>
                </c:pt>
                <c:pt idx="6">
                  <c:v>Dez/26</c:v>
                </c:pt>
                <c:pt idx="7">
                  <c:v>Jan/27</c:v>
                </c:pt>
                <c:pt idx="8">
                  <c:v>Fev/27</c:v>
                </c:pt>
                <c:pt idx="9">
                  <c:v>Mar/27</c:v>
                </c:pt>
                <c:pt idx="10">
                  <c:v>Abr/27</c:v>
                </c:pt>
                <c:pt idx="11">
                  <c:v>Mai/27</c:v>
                </c:pt>
                <c:pt idx="12">
                  <c:v>Jun/27</c:v>
                </c:pt>
                <c:pt idx="13">
                  <c:v>Jul/27</c:v>
                </c:pt>
                <c:pt idx="14">
                  <c:v>Ago/27</c:v>
                </c:pt>
                <c:pt idx="15">
                  <c:v>Set/27</c:v>
                </c:pt>
                <c:pt idx="16">
                  <c:v>Out/27</c:v>
                </c:pt>
                <c:pt idx="17">
                  <c:v>Nov/27</c:v>
                </c:pt>
                <c:pt idx="18">
                  <c:v>Dez/27</c:v>
                </c:pt>
                <c:pt idx="19">
                  <c:v>Jan/28</c:v>
                </c:pt>
                <c:pt idx="20">
                  <c:v>Fev/28</c:v>
                </c:pt>
                <c:pt idx="21">
                  <c:v>Mar/28</c:v>
                </c:pt>
                <c:pt idx="22">
                  <c:v>Abr/28</c:v>
                </c:pt>
                <c:pt idx="23">
                  <c:v>Mai/28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54866</c:v>
                </c:pt>
                <c:pt idx="1">
                  <c:v>57751</c:v>
                </c:pt>
                <c:pt idx="2">
                  <c:v>69326</c:v>
                </c:pt>
                <c:pt idx="3">
                  <c:v>65052</c:v>
                </c:pt>
                <c:pt idx="4">
                  <c:v>66853</c:v>
                </c:pt>
                <c:pt idx="5">
                  <c:v>64640</c:v>
                </c:pt>
                <c:pt idx="6">
                  <c:v>61379</c:v>
                </c:pt>
                <c:pt idx="7">
                  <c:v>63023</c:v>
                </c:pt>
                <c:pt idx="8">
                  <c:v>56159</c:v>
                </c:pt>
                <c:pt idx="9">
                  <c:v>64414</c:v>
                </c:pt>
                <c:pt idx="10">
                  <c:v>64273</c:v>
                </c:pt>
                <c:pt idx="11">
                  <c:v>60152</c:v>
                </c:pt>
                <c:pt idx="12">
                  <c:v>54591</c:v>
                </c:pt>
                <c:pt idx="13">
                  <c:v>57462</c:v>
                </c:pt>
                <c:pt idx="14">
                  <c:v>68980</c:v>
                </c:pt>
                <c:pt idx="15">
                  <c:v>64727</c:v>
                </c:pt>
                <c:pt idx="16">
                  <c:v>66519</c:v>
                </c:pt>
                <c:pt idx="17">
                  <c:v>64317</c:v>
                </c:pt>
                <c:pt idx="18">
                  <c:v>61072</c:v>
                </c:pt>
                <c:pt idx="19">
                  <c:v>63023</c:v>
                </c:pt>
                <c:pt idx="20">
                  <c:v>56159</c:v>
                </c:pt>
                <c:pt idx="21">
                  <c:v>64414</c:v>
                </c:pt>
                <c:pt idx="22">
                  <c:v>64273</c:v>
                </c:pt>
                <c:pt idx="23">
                  <c:v>60152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7F-4BCB-9008-41C74A66AE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Rede remanescente</c:v>
                </c:pt>
              </c:strCache>
            </c:strRef>
          </c:tx>
          <c:spPr>
            <a:solidFill>
              <a:srgbClr val="2F927B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Jun/26</c:v>
                </c:pt>
                <c:pt idx="1">
                  <c:v>Jul/26</c:v>
                </c:pt>
                <c:pt idx="2">
                  <c:v>Ago/26</c:v>
                </c:pt>
                <c:pt idx="3">
                  <c:v>Set/26</c:v>
                </c:pt>
                <c:pt idx="4">
                  <c:v>Out/26</c:v>
                </c:pt>
                <c:pt idx="5">
                  <c:v>Nov/26</c:v>
                </c:pt>
                <c:pt idx="6">
                  <c:v>Dez/26</c:v>
                </c:pt>
                <c:pt idx="7">
                  <c:v>Jan/27</c:v>
                </c:pt>
                <c:pt idx="8">
                  <c:v>Fev/27</c:v>
                </c:pt>
                <c:pt idx="9">
                  <c:v>Mar/27</c:v>
                </c:pt>
                <c:pt idx="10">
                  <c:v>Abr/27</c:v>
                </c:pt>
                <c:pt idx="11">
                  <c:v>Mai/27</c:v>
                </c:pt>
                <c:pt idx="12">
                  <c:v>Jun/27</c:v>
                </c:pt>
                <c:pt idx="13">
                  <c:v>Jul/27</c:v>
                </c:pt>
                <c:pt idx="14">
                  <c:v>Ago/27</c:v>
                </c:pt>
                <c:pt idx="15">
                  <c:v>Set/27</c:v>
                </c:pt>
                <c:pt idx="16">
                  <c:v>Out/27</c:v>
                </c:pt>
                <c:pt idx="17">
                  <c:v>Nov/27</c:v>
                </c:pt>
                <c:pt idx="18">
                  <c:v>Dez/27</c:v>
                </c:pt>
                <c:pt idx="19">
                  <c:v>Jan/28</c:v>
                </c:pt>
                <c:pt idx="20">
                  <c:v>Fev/28</c:v>
                </c:pt>
                <c:pt idx="21">
                  <c:v>Mar/28</c:v>
                </c:pt>
                <c:pt idx="22">
                  <c:v>Abr/28</c:v>
                </c:pt>
                <c:pt idx="23">
                  <c:v>Mai/28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2918</c:v>
                </c:pt>
                <c:pt idx="1">
                  <c:v>82560</c:v>
                </c:pt>
                <c:pt idx="2">
                  <c:v>1124</c:v>
                </c:pt>
                <c:pt idx="3">
                  <c:v>2691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C7F-4BCB-9008-41C74A66AE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4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_-[$R$-416]\ * #,##0_-;\-[$R$-416]\ * #,##0_-;_-[$R$-416]\ * &quot;-&quot;_-;_-@_-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4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65E7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Economia Acumulada</c:v>
                </c:pt>
              </c:strCache>
            </c:strRef>
          </c:tx>
          <c:spPr>
            <a:ln w="38100" cap="flat">
              <a:solidFill>
                <a:srgbClr val="2F927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927B"/>
              </a:solidFill>
              <a:ln w="9525" cap="flat">
                <a:solidFill>
                  <a:srgbClr val="2F927B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Jun/26</c:v>
                </c:pt>
                <c:pt idx="1">
                  <c:v>Jul/26</c:v>
                </c:pt>
                <c:pt idx="2">
                  <c:v>Ago/26</c:v>
                </c:pt>
                <c:pt idx="3">
                  <c:v>Set/26</c:v>
                </c:pt>
                <c:pt idx="4">
                  <c:v>Out/26</c:v>
                </c:pt>
                <c:pt idx="5">
                  <c:v>Nov/26</c:v>
                </c:pt>
                <c:pt idx="6">
                  <c:v>Dez/26</c:v>
                </c:pt>
                <c:pt idx="7">
                  <c:v>Jan/27</c:v>
                </c:pt>
                <c:pt idx="8">
                  <c:v>Fev/27</c:v>
                </c:pt>
                <c:pt idx="9">
                  <c:v>Mar/27</c:v>
                </c:pt>
                <c:pt idx="10">
                  <c:v>Abr/27</c:v>
                </c:pt>
                <c:pt idx="11">
                  <c:v>Mai/27</c:v>
                </c:pt>
                <c:pt idx="12">
                  <c:v>Jun/27</c:v>
                </c:pt>
                <c:pt idx="13">
                  <c:v>Jul/27</c:v>
                </c:pt>
                <c:pt idx="14">
                  <c:v>Ago/27</c:v>
                </c:pt>
                <c:pt idx="15">
                  <c:v>Set/27</c:v>
                </c:pt>
                <c:pt idx="16">
                  <c:v>Out/27</c:v>
                </c:pt>
                <c:pt idx="17">
                  <c:v>Nov/27</c:v>
                </c:pt>
                <c:pt idx="18">
                  <c:v>Dez/27</c:v>
                </c:pt>
                <c:pt idx="19">
                  <c:v>Jan/28</c:v>
                </c:pt>
                <c:pt idx="20">
                  <c:v>Fev/28</c:v>
                </c:pt>
                <c:pt idx="21">
                  <c:v>Mar/28</c:v>
                </c:pt>
                <c:pt idx="22">
                  <c:v>Abr/28</c:v>
                </c:pt>
                <c:pt idx="23">
                  <c:v>Mai/28</c:v>
                </c:pt>
              </c:strCache>
            </c:strRef>
          </c:cat>
          <c:val>
            <c:numRef>
              <c:f>Sheet1!$B$2:$B$25</c:f>
              <c:numCache>
                <c:formatCode>"R$ "#,##0;"(R$ "#,##0\);\-</c:formatCode>
                <c:ptCount val="24"/>
                <c:pt idx="0">
                  <c:v>-27865.747915150878</c:v>
                </c:pt>
                <c:pt idx="1">
                  <c:v>62250.405584879059</c:v>
                </c:pt>
                <c:pt idx="2">
                  <c:v>149470.94968306724</c:v>
                </c:pt>
                <c:pt idx="3">
                  <c:v>127034.98200829243</c:v>
                </c:pt>
                <c:pt idx="4">
                  <c:v>103534.85314532841</c:v>
                </c:pt>
                <c:pt idx="5">
                  <c:v>82104.69868077818</c:v>
                </c:pt>
                <c:pt idx="6">
                  <c:v>65384.255054166904</c:v>
                </c:pt>
                <c:pt idx="7">
                  <c:v>44846.10048817702</c:v>
                </c:pt>
                <c:pt idx="8">
                  <c:v>33719.474194993236</c:v>
                </c:pt>
                <c:pt idx="9">
                  <c:v>177842.03266215199</c:v>
                </c:pt>
                <c:pt idx="10">
                  <c:v>148736.40775990946</c:v>
                </c:pt>
                <c:pt idx="11">
                  <c:v>121305.55147516809</c:v>
                </c:pt>
                <c:pt idx="12">
                  <c:v>137567.83182642216</c:v>
                </c:pt>
                <c:pt idx="13">
                  <c:v>361776.98455416627</c:v>
                </c:pt>
                <c:pt idx="14">
                  <c:v>454519.00953280792</c:v>
                </c:pt>
                <c:pt idx="15">
                  <c:v>433473.82653213863</c:v>
                </c:pt>
                <c:pt idx="16">
                  <c:v>411391.78144760052</c:v>
                </c:pt>
                <c:pt idx="17">
                  <c:v>391365.08512143651</c:v>
                </c:pt>
                <c:pt idx="18">
                  <c:v>376068.00565415993</c:v>
                </c:pt>
                <c:pt idx="19">
                  <c:v>355529.85108817008</c:v>
                </c:pt>
                <c:pt idx="20">
                  <c:v>344403.22479498631</c:v>
                </c:pt>
                <c:pt idx="21">
                  <c:v>492443.53782496625</c:v>
                </c:pt>
                <c:pt idx="22">
                  <c:v>463337.91292272368</c:v>
                </c:pt>
                <c:pt idx="23">
                  <c:v>435907.05663798231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C43-44E6-AE71-3C70143E44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4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[$R$-416]\ 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4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Economia Acumulada 60m</c:v>
                </c:pt>
              </c:strCache>
            </c:strRef>
          </c:tx>
          <c:spPr>
            <a:ln w="38100" cap="flat">
              <a:solidFill>
                <a:srgbClr val="2F927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Jun-26</c:v>
                </c:pt>
                <c:pt idx="1">
                  <c:v>Jul-26</c:v>
                </c:pt>
                <c:pt idx="2">
                  <c:v>Ago/26</c:v>
                </c:pt>
                <c:pt idx="3">
                  <c:v>Set/26</c:v>
                </c:pt>
                <c:pt idx="4">
                  <c:v>Out/26</c:v>
                </c:pt>
                <c:pt idx="5">
                  <c:v>Nov-26</c:v>
                </c:pt>
                <c:pt idx="6">
                  <c:v>Dez/26</c:v>
                </c:pt>
                <c:pt idx="7">
                  <c:v>Jan-27</c:v>
                </c:pt>
                <c:pt idx="8">
                  <c:v>Fev/27</c:v>
                </c:pt>
                <c:pt idx="9">
                  <c:v>Mar-27</c:v>
                </c:pt>
                <c:pt idx="10">
                  <c:v>Abr/27</c:v>
                </c:pt>
                <c:pt idx="11">
                  <c:v>Mai/27</c:v>
                </c:pt>
                <c:pt idx="12">
                  <c:v>Jun-27</c:v>
                </c:pt>
                <c:pt idx="13">
                  <c:v>Jul-27</c:v>
                </c:pt>
                <c:pt idx="14">
                  <c:v>Ago/27</c:v>
                </c:pt>
                <c:pt idx="15">
                  <c:v>Set/27</c:v>
                </c:pt>
                <c:pt idx="16">
                  <c:v>Out/27</c:v>
                </c:pt>
                <c:pt idx="17">
                  <c:v>Nov-27</c:v>
                </c:pt>
                <c:pt idx="18">
                  <c:v>Dez/27</c:v>
                </c:pt>
                <c:pt idx="19">
                  <c:v>Jan-28</c:v>
                </c:pt>
                <c:pt idx="20">
                  <c:v>Fev/28</c:v>
                </c:pt>
                <c:pt idx="21">
                  <c:v>Mar-28</c:v>
                </c:pt>
                <c:pt idx="22">
                  <c:v>Abr/28</c:v>
                </c:pt>
                <c:pt idx="23">
                  <c:v>Mai/28</c:v>
                </c:pt>
                <c:pt idx="24">
                  <c:v>Jun-28</c:v>
                </c:pt>
                <c:pt idx="25">
                  <c:v>Jul-28</c:v>
                </c:pt>
                <c:pt idx="26">
                  <c:v>Ago/28</c:v>
                </c:pt>
                <c:pt idx="27">
                  <c:v>Set/28</c:v>
                </c:pt>
                <c:pt idx="28">
                  <c:v>Out/28</c:v>
                </c:pt>
                <c:pt idx="29">
                  <c:v>Nov-28</c:v>
                </c:pt>
                <c:pt idx="30">
                  <c:v>Dez/28</c:v>
                </c:pt>
                <c:pt idx="31">
                  <c:v>Jan-29</c:v>
                </c:pt>
                <c:pt idx="32">
                  <c:v>Fev/29</c:v>
                </c:pt>
                <c:pt idx="33">
                  <c:v>Mar-29</c:v>
                </c:pt>
                <c:pt idx="34">
                  <c:v>Abr/29</c:v>
                </c:pt>
                <c:pt idx="35">
                  <c:v>Mai/29</c:v>
                </c:pt>
                <c:pt idx="36">
                  <c:v>Jun-29</c:v>
                </c:pt>
                <c:pt idx="37">
                  <c:v>Jul-29</c:v>
                </c:pt>
                <c:pt idx="38">
                  <c:v>Ago/29</c:v>
                </c:pt>
                <c:pt idx="39">
                  <c:v>Set/29</c:v>
                </c:pt>
                <c:pt idx="40">
                  <c:v>Out/29</c:v>
                </c:pt>
                <c:pt idx="41">
                  <c:v>Nov-29</c:v>
                </c:pt>
                <c:pt idx="42">
                  <c:v>Dez/29</c:v>
                </c:pt>
                <c:pt idx="43">
                  <c:v>Jan-30</c:v>
                </c:pt>
                <c:pt idx="44">
                  <c:v>Fev/30</c:v>
                </c:pt>
                <c:pt idx="45">
                  <c:v>Mar-30</c:v>
                </c:pt>
                <c:pt idx="46">
                  <c:v>Abr/30</c:v>
                </c:pt>
                <c:pt idx="47">
                  <c:v>Mai/30</c:v>
                </c:pt>
                <c:pt idx="48">
                  <c:v>Jun-30</c:v>
                </c:pt>
                <c:pt idx="49">
                  <c:v>Jul-30</c:v>
                </c:pt>
                <c:pt idx="50">
                  <c:v>Ago/30</c:v>
                </c:pt>
                <c:pt idx="51">
                  <c:v>Set/30</c:v>
                </c:pt>
                <c:pt idx="52">
                  <c:v>Out/30</c:v>
                </c:pt>
                <c:pt idx="53">
                  <c:v>Nov-30</c:v>
                </c:pt>
                <c:pt idx="54">
                  <c:v>Dez/30</c:v>
                </c:pt>
                <c:pt idx="55">
                  <c:v>Jan-31</c:v>
                </c:pt>
                <c:pt idx="56">
                  <c:v>Fev/31</c:v>
                </c:pt>
                <c:pt idx="57">
                  <c:v>Mar-31</c:v>
                </c:pt>
                <c:pt idx="58">
                  <c:v>Abr/31</c:v>
                </c:pt>
                <c:pt idx="59">
                  <c:v>Mai/31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-27891</c:v>
                </c:pt>
                <c:pt idx="1">
                  <c:v>63181</c:v>
                </c:pt>
                <c:pt idx="2">
                  <c:v>149297</c:v>
                </c:pt>
                <c:pt idx="3">
                  <c:v>124170</c:v>
                </c:pt>
                <c:pt idx="4">
                  <c:v>100670</c:v>
                </c:pt>
                <c:pt idx="5">
                  <c:v>79240</c:v>
                </c:pt>
                <c:pt idx="6">
                  <c:v>62519</c:v>
                </c:pt>
                <c:pt idx="7">
                  <c:v>41981</c:v>
                </c:pt>
                <c:pt idx="8">
                  <c:v>30855</c:v>
                </c:pt>
                <c:pt idx="9">
                  <c:v>174977</c:v>
                </c:pt>
                <c:pt idx="10">
                  <c:v>145871</c:v>
                </c:pt>
                <c:pt idx="11">
                  <c:v>118441</c:v>
                </c:pt>
                <c:pt idx="12">
                  <c:v>134703</c:v>
                </c:pt>
                <c:pt idx="13">
                  <c:v>358912</c:v>
                </c:pt>
                <c:pt idx="14">
                  <c:v>451654</c:v>
                </c:pt>
                <c:pt idx="15">
                  <c:v>430609</c:v>
                </c:pt>
                <c:pt idx="16">
                  <c:v>408527</c:v>
                </c:pt>
                <c:pt idx="17">
                  <c:v>388500</c:v>
                </c:pt>
                <c:pt idx="18">
                  <c:v>373203</c:v>
                </c:pt>
                <c:pt idx="19">
                  <c:v>352665</c:v>
                </c:pt>
                <c:pt idx="20">
                  <c:v>341538</c:v>
                </c:pt>
                <c:pt idx="21">
                  <c:v>489579</c:v>
                </c:pt>
                <c:pt idx="22">
                  <c:v>460473</c:v>
                </c:pt>
                <c:pt idx="23">
                  <c:v>433042</c:v>
                </c:pt>
                <c:pt idx="24">
                  <c:v>455435</c:v>
                </c:pt>
                <c:pt idx="25">
                  <c:v>772321</c:v>
                </c:pt>
                <c:pt idx="26">
                  <c:v>877552</c:v>
                </c:pt>
                <c:pt idx="27">
                  <c:v>846689</c:v>
                </c:pt>
                <c:pt idx="28">
                  <c:v>814042</c:v>
                </c:pt>
                <c:pt idx="29">
                  <c:v>783585</c:v>
                </c:pt>
                <c:pt idx="30">
                  <c:v>756358</c:v>
                </c:pt>
                <c:pt idx="31">
                  <c:v>727189</c:v>
                </c:pt>
                <c:pt idx="32">
                  <c:v>704851</c:v>
                </c:pt>
                <c:pt idx="33">
                  <c:v>862506</c:v>
                </c:pt>
                <c:pt idx="34">
                  <c:v>832093</c:v>
                </c:pt>
                <c:pt idx="35">
                  <c:v>805781</c:v>
                </c:pt>
                <c:pt idx="36">
                  <c:v>919330</c:v>
                </c:pt>
                <c:pt idx="37">
                  <c:v>1340579</c:v>
                </c:pt>
                <c:pt idx="38">
                  <c:v>1431133</c:v>
                </c:pt>
                <c:pt idx="39">
                  <c:v>1401430</c:v>
                </c:pt>
                <c:pt idx="40">
                  <c:v>1369952</c:v>
                </c:pt>
                <c:pt idx="41">
                  <c:v>1340654</c:v>
                </c:pt>
                <c:pt idx="42">
                  <c:v>1314569</c:v>
                </c:pt>
                <c:pt idx="43">
                  <c:v>1286553</c:v>
                </c:pt>
                <c:pt idx="44">
                  <c:v>1265332</c:v>
                </c:pt>
                <c:pt idx="45">
                  <c:v>1442067</c:v>
                </c:pt>
                <c:pt idx="46">
                  <c:v>1412813</c:v>
                </c:pt>
                <c:pt idx="47">
                  <c:v>1387638</c:v>
                </c:pt>
                <c:pt idx="48">
                  <c:v>1527715</c:v>
                </c:pt>
                <c:pt idx="49">
                  <c:v>1843577</c:v>
                </c:pt>
                <c:pt idx="50">
                  <c:v>1947014</c:v>
                </c:pt>
                <c:pt idx="51">
                  <c:v>1918491</c:v>
                </c:pt>
                <c:pt idx="52">
                  <c:v>1888202</c:v>
                </c:pt>
                <c:pt idx="53">
                  <c:v>1860008</c:v>
                </c:pt>
                <c:pt idx="54">
                  <c:v>1834884</c:v>
                </c:pt>
                <c:pt idx="55">
                  <c:v>1807860</c:v>
                </c:pt>
                <c:pt idx="56">
                  <c:v>1786703</c:v>
                </c:pt>
                <c:pt idx="57">
                  <c:v>1983790</c:v>
                </c:pt>
                <c:pt idx="58">
                  <c:v>1955478</c:v>
                </c:pt>
                <c:pt idx="59">
                  <c:v>1930957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E4F-480D-AADB-C893BEE495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499"/>
                </a:solidFill>
                <a:latin typeface="+mj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6"/>
        <c:tickMarkSkip val="6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[$R$-416]\ 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499"/>
                </a:solidFill>
                <a:latin typeface="+mj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Eco acumulada</c:v>
                </c:pt>
              </c:strCache>
            </c:strRef>
          </c:tx>
          <c:spPr>
            <a:ln w="38100" cap="flat">
              <a:solidFill>
                <a:srgbClr val="2F927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Sheet1!$A$2:$A$121</c:f>
              <c:strCache>
                <c:ptCount val="120"/>
                <c:pt idx="0">
                  <c:v>Jun/26</c:v>
                </c:pt>
                <c:pt idx="1">
                  <c:v>Jul/26</c:v>
                </c:pt>
                <c:pt idx="2">
                  <c:v>Ago/26</c:v>
                </c:pt>
                <c:pt idx="3">
                  <c:v>Set/26</c:v>
                </c:pt>
                <c:pt idx="4">
                  <c:v>Out/26</c:v>
                </c:pt>
                <c:pt idx="5">
                  <c:v>Nov/26</c:v>
                </c:pt>
                <c:pt idx="6">
                  <c:v>Dez/26</c:v>
                </c:pt>
                <c:pt idx="7">
                  <c:v>Jan/27</c:v>
                </c:pt>
                <c:pt idx="8">
                  <c:v>Fev/27</c:v>
                </c:pt>
                <c:pt idx="9">
                  <c:v>Mar/27</c:v>
                </c:pt>
                <c:pt idx="10">
                  <c:v>Abr/27</c:v>
                </c:pt>
                <c:pt idx="11">
                  <c:v>Mai/27</c:v>
                </c:pt>
                <c:pt idx="12">
                  <c:v>Jun/27</c:v>
                </c:pt>
                <c:pt idx="13">
                  <c:v>Jul/27</c:v>
                </c:pt>
                <c:pt idx="14">
                  <c:v>Ago/27</c:v>
                </c:pt>
                <c:pt idx="15">
                  <c:v>Set/27</c:v>
                </c:pt>
                <c:pt idx="16">
                  <c:v>Out/27</c:v>
                </c:pt>
                <c:pt idx="17">
                  <c:v>Nov/27</c:v>
                </c:pt>
                <c:pt idx="18">
                  <c:v>Dez/27</c:v>
                </c:pt>
                <c:pt idx="19">
                  <c:v>Jan/28</c:v>
                </c:pt>
                <c:pt idx="20">
                  <c:v>Fev/28</c:v>
                </c:pt>
                <c:pt idx="21">
                  <c:v>Mar/28</c:v>
                </c:pt>
                <c:pt idx="22">
                  <c:v>Abr/28</c:v>
                </c:pt>
                <c:pt idx="23">
                  <c:v>Mai/28</c:v>
                </c:pt>
                <c:pt idx="24">
                  <c:v>Jun/28</c:v>
                </c:pt>
                <c:pt idx="25">
                  <c:v>Jul/28</c:v>
                </c:pt>
                <c:pt idx="26">
                  <c:v>Ago/28</c:v>
                </c:pt>
                <c:pt idx="27">
                  <c:v>Set/28</c:v>
                </c:pt>
                <c:pt idx="28">
                  <c:v>Out/28</c:v>
                </c:pt>
                <c:pt idx="29">
                  <c:v>Nov/28</c:v>
                </c:pt>
                <c:pt idx="30">
                  <c:v>Dez/28</c:v>
                </c:pt>
                <c:pt idx="31">
                  <c:v>Jan/29</c:v>
                </c:pt>
                <c:pt idx="32">
                  <c:v>Fev/29</c:v>
                </c:pt>
                <c:pt idx="33">
                  <c:v>Mar/29</c:v>
                </c:pt>
                <c:pt idx="34">
                  <c:v>Abr/29</c:v>
                </c:pt>
                <c:pt idx="35">
                  <c:v>Mai/29</c:v>
                </c:pt>
                <c:pt idx="36">
                  <c:v>Jun/29</c:v>
                </c:pt>
                <c:pt idx="37">
                  <c:v>Jul/29</c:v>
                </c:pt>
                <c:pt idx="38">
                  <c:v>Ago/29</c:v>
                </c:pt>
                <c:pt idx="39">
                  <c:v>Set/29</c:v>
                </c:pt>
                <c:pt idx="40">
                  <c:v>Out/29</c:v>
                </c:pt>
                <c:pt idx="41">
                  <c:v>Nov/29</c:v>
                </c:pt>
                <c:pt idx="42">
                  <c:v>Dez/29</c:v>
                </c:pt>
                <c:pt idx="43">
                  <c:v>Jan/30</c:v>
                </c:pt>
                <c:pt idx="44">
                  <c:v>Fev/30</c:v>
                </c:pt>
                <c:pt idx="45">
                  <c:v>Mar/30</c:v>
                </c:pt>
                <c:pt idx="46">
                  <c:v>Abr/30</c:v>
                </c:pt>
                <c:pt idx="47">
                  <c:v>Mai/30</c:v>
                </c:pt>
                <c:pt idx="48">
                  <c:v>Jun/30</c:v>
                </c:pt>
                <c:pt idx="49">
                  <c:v>Jul/30</c:v>
                </c:pt>
                <c:pt idx="50">
                  <c:v>Ago/30</c:v>
                </c:pt>
                <c:pt idx="51">
                  <c:v>Set/30</c:v>
                </c:pt>
                <c:pt idx="52">
                  <c:v>Out/30</c:v>
                </c:pt>
                <c:pt idx="53">
                  <c:v>Nov/30</c:v>
                </c:pt>
                <c:pt idx="54">
                  <c:v>Dez/30</c:v>
                </c:pt>
                <c:pt idx="55">
                  <c:v>Jan/31</c:v>
                </c:pt>
                <c:pt idx="56">
                  <c:v>Fev/31</c:v>
                </c:pt>
                <c:pt idx="57">
                  <c:v>Mar/31</c:v>
                </c:pt>
                <c:pt idx="58">
                  <c:v>Abr/31</c:v>
                </c:pt>
                <c:pt idx="59">
                  <c:v>Mai/31</c:v>
                </c:pt>
                <c:pt idx="60">
                  <c:v>Jun/31</c:v>
                </c:pt>
                <c:pt idx="61">
                  <c:v>Jul/31</c:v>
                </c:pt>
                <c:pt idx="62">
                  <c:v>Ago/31</c:v>
                </c:pt>
                <c:pt idx="63">
                  <c:v>Set/31</c:v>
                </c:pt>
                <c:pt idx="64">
                  <c:v>Out/31</c:v>
                </c:pt>
                <c:pt idx="65">
                  <c:v>Nov/31</c:v>
                </c:pt>
                <c:pt idx="66">
                  <c:v>Dez/31</c:v>
                </c:pt>
                <c:pt idx="67">
                  <c:v>Jan/32</c:v>
                </c:pt>
                <c:pt idx="68">
                  <c:v>Fev/32</c:v>
                </c:pt>
                <c:pt idx="69">
                  <c:v>Mar/32</c:v>
                </c:pt>
                <c:pt idx="70">
                  <c:v>Abr/32</c:v>
                </c:pt>
                <c:pt idx="71">
                  <c:v>Mai/32</c:v>
                </c:pt>
                <c:pt idx="72">
                  <c:v>Jun/32</c:v>
                </c:pt>
                <c:pt idx="73">
                  <c:v>Jul/32</c:v>
                </c:pt>
                <c:pt idx="74">
                  <c:v>Ago/32</c:v>
                </c:pt>
                <c:pt idx="75">
                  <c:v>Set/32</c:v>
                </c:pt>
                <c:pt idx="76">
                  <c:v>Out/32</c:v>
                </c:pt>
                <c:pt idx="77">
                  <c:v>Nov/32</c:v>
                </c:pt>
                <c:pt idx="78">
                  <c:v>Dez/32</c:v>
                </c:pt>
                <c:pt idx="79">
                  <c:v>Jan/33</c:v>
                </c:pt>
                <c:pt idx="80">
                  <c:v>Fev/33</c:v>
                </c:pt>
                <c:pt idx="81">
                  <c:v>Mar/33</c:v>
                </c:pt>
                <c:pt idx="82">
                  <c:v>Abr/33</c:v>
                </c:pt>
                <c:pt idx="83">
                  <c:v>Mai/33</c:v>
                </c:pt>
                <c:pt idx="84">
                  <c:v>Jun/33</c:v>
                </c:pt>
                <c:pt idx="85">
                  <c:v>Jul/33</c:v>
                </c:pt>
                <c:pt idx="86">
                  <c:v>Ago/33</c:v>
                </c:pt>
                <c:pt idx="87">
                  <c:v>Set/33</c:v>
                </c:pt>
                <c:pt idx="88">
                  <c:v>Out/33</c:v>
                </c:pt>
                <c:pt idx="89">
                  <c:v>Nov/33</c:v>
                </c:pt>
                <c:pt idx="90">
                  <c:v>Dez/33</c:v>
                </c:pt>
                <c:pt idx="91">
                  <c:v>Jan/34</c:v>
                </c:pt>
                <c:pt idx="92">
                  <c:v>Fev/34</c:v>
                </c:pt>
                <c:pt idx="93">
                  <c:v>Mar/34</c:v>
                </c:pt>
                <c:pt idx="94">
                  <c:v>Abr/34</c:v>
                </c:pt>
                <c:pt idx="95">
                  <c:v>Mai/34</c:v>
                </c:pt>
                <c:pt idx="96">
                  <c:v>Jun/34</c:v>
                </c:pt>
                <c:pt idx="97">
                  <c:v>Jul/34</c:v>
                </c:pt>
                <c:pt idx="98">
                  <c:v>Ago/34</c:v>
                </c:pt>
                <c:pt idx="99">
                  <c:v>Set/34</c:v>
                </c:pt>
                <c:pt idx="100">
                  <c:v>Out/34</c:v>
                </c:pt>
                <c:pt idx="101">
                  <c:v>Nov/34</c:v>
                </c:pt>
                <c:pt idx="102">
                  <c:v>Dez/34</c:v>
                </c:pt>
                <c:pt idx="103">
                  <c:v>Jan/35</c:v>
                </c:pt>
                <c:pt idx="104">
                  <c:v>Fev/35</c:v>
                </c:pt>
                <c:pt idx="105">
                  <c:v>Mar/35</c:v>
                </c:pt>
                <c:pt idx="106">
                  <c:v>Abr/35</c:v>
                </c:pt>
                <c:pt idx="107">
                  <c:v>Mai/35</c:v>
                </c:pt>
                <c:pt idx="108">
                  <c:v>Jun/35</c:v>
                </c:pt>
                <c:pt idx="109">
                  <c:v>Jul/35</c:v>
                </c:pt>
                <c:pt idx="110">
                  <c:v>Ago/35</c:v>
                </c:pt>
                <c:pt idx="111">
                  <c:v>Set/35</c:v>
                </c:pt>
                <c:pt idx="112">
                  <c:v>Out/35</c:v>
                </c:pt>
                <c:pt idx="113">
                  <c:v>Nov/35</c:v>
                </c:pt>
                <c:pt idx="114">
                  <c:v>Dez/35</c:v>
                </c:pt>
                <c:pt idx="115">
                  <c:v>Jan/36</c:v>
                </c:pt>
                <c:pt idx="116">
                  <c:v>Fev/36</c:v>
                </c:pt>
                <c:pt idx="117">
                  <c:v>Mar/36</c:v>
                </c:pt>
                <c:pt idx="118">
                  <c:v>Abr/36</c:v>
                </c:pt>
                <c:pt idx="119">
                  <c:v>Mai/36</c:v>
                </c:pt>
              </c:strCache>
            </c:strRef>
          </c:cat>
          <c:val>
            <c:numRef>
              <c:f>Sheet1!$B$2:$B$121</c:f>
              <c:numCache>
                <c:formatCode>"R$ "#,##0;"(R$ "#,##0\);\-</c:formatCode>
                <c:ptCount val="120"/>
                <c:pt idx="0">
                  <c:v>-24950.932012522371</c:v>
                </c:pt>
                <c:pt idx="1">
                  <c:v>28149.038204971079</c:v>
                </c:pt>
                <c:pt idx="2">
                  <c:v>41997.767155074471</c:v>
                </c:pt>
                <c:pt idx="3">
                  <c:v>19561.92252027517</c:v>
                </c:pt>
                <c:pt idx="4">
                  <c:v>-3938.2063426888417</c:v>
                </c:pt>
                <c:pt idx="5">
                  <c:v>-25368.360807239078</c:v>
                </c:pt>
                <c:pt idx="6">
                  <c:v>-42088.896982942293</c:v>
                </c:pt>
                <c:pt idx="7">
                  <c:v>-62626.063587375735</c:v>
                </c:pt>
                <c:pt idx="8">
                  <c:v>-73752.197056644945</c:v>
                </c:pt>
                <c:pt idx="9">
                  <c:v>70370.998869557225</c:v>
                </c:pt>
                <c:pt idx="10">
                  <c:v>41265.559065498564</c:v>
                </c:pt>
                <c:pt idx="11">
                  <c:v>13835.137761489314</c:v>
                </c:pt>
                <c:pt idx="12">
                  <c:v>30097.892484257223</c:v>
                </c:pt>
                <c:pt idx="13">
                  <c:v>254304.19811249353</c:v>
                </c:pt>
                <c:pt idx="14">
                  <c:v>347044.77839760989</c:v>
                </c:pt>
                <c:pt idx="15">
                  <c:v>326001.28441786848</c:v>
                </c:pt>
                <c:pt idx="16">
                  <c:v>303920.09541243082</c:v>
                </c:pt>
                <c:pt idx="17">
                  <c:v>283891.33986897115</c:v>
                </c:pt>
                <c:pt idx="18">
                  <c:v>268595.69259889232</c:v>
                </c:pt>
                <c:pt idx="19">
                  <c:v>248058.52599445888</c:v>
                </c:pt>
                <c:pt idx="20">
                  <c:v>236932.39252518967</c:v>
                </c:pt>
                <c:pt idx="21">
                  <c:v>384972.70092633186</c:v>
                </c:pt>
                <c:pt idx="22">
                  <c:v>355867.26112227322</c:v>
                </c:pt>
                <c:pt idx="23">
                  <c:v>328436.83981826395</c:v>
                </c:pt>
                <c:pt idx="24">
                  <c:v>348716.76103848341</c:v>
                </c:pt>
                <c:pt idx="25">
                  <c:v>545731.81779217545</c:v>
                </c:pt>
                <c:pt idx="26">
                  <c:v>726637.23571302346</c:v>
                </c:pt>
                <c:pt idx="27">
                  <c:v>707007.60336319974</c:v>
                </c:pt>
                <c:pt idx="28">
                  <c:v>686369.59663853131</c:v>
                </c:pt>
                <c:pt idx="29">
                  <c:v>667773.94167926034</c:v>
                </c:pt>
                <c:pt idx="30">
                  <c:v>653925.71159933507</c:v>
                </c:pt>
                <c:pt idx="31">
                  <c:v>635853.57416439708</c:v>
                </c:pt>
                <c:pt idx="32">
                  <c:v>627286.79269179364</c:v>
                </c:pt>
                <c:pt idx="33">
                  <c:v>685971.39887636597</c:v>
                </c:pt>
                <c:pt idx="34">
                  <c:v>658965.19297470758</c:v>
                </c:pt>
                <c:pt idx="35">
                  <c:v>633492.16080765834</c:v>
                </c:pt>
                <c:pt idx="36">
                  <c:v>719631.93744357093</c:v>
                </c:pt>
                <c:pt idx="37">
                  <c:v>880076.97131768917</c:v>
                </c:pt>
                <c:pt idx="38">
                  <c:v>938505.26982363476</c:v>
                </c:pt>
                <c:pt idx="39">
                  <c:v>920317.49664651486</c:v>
                </c:pt>
                <c:pt idx="40">
                  <c:v>901149.69945522933</c:v>
                </c:pt>
                <c:pt idx="41">
                  <c:v>884006.82344134303</c:v>
                </c:pt>
                <c:pt idx="42">
                  <c:v>871635.95043585263</c:v>
                </c:pt>
                <c:pt idx="43">
                  <c:v>854994.41873555095</c:v>
                </c:pt>
                <c:pt idx="44">
                  <c:v>847890.72953520808</c:v>
                </c:pt>
                <c:pt idx="45">
                  <c:v>822232.04996300628</c:v>
                </c:pt>
                <c:pt idx="46">
                  <c:v>796471.09399775765</c:v>
                </c:pt>
                <c:pt idx="47">
                  <c:v>772157.09948411654</c:v>
                </c:pt>
                <c:pt idx="48">
                  <c:v>873265.66923961975</c:v>
                </c:pt>
                <c:pt idx="49">
                  <c:v>1041519.9725694337</c:v>
                </c:pt>
                <c:pt idx="50">
                  <c:v>1105808.4191804884</c:v>
                </c:pt>
                <c:pt idx="51">
                  <c:v>1089088.6598278529</c:v>
                </c:pt>
                <c:pt idx="52">
                  <c:v>1071415.3312646351</c:v>
                </c:pt>
                <c:pt idx="53">
                  <c:v>1055753.2500152537</c:v>
                </c:pt>
                <c:pt idx="54">
                  <c:v>1044887.8306206752</c:v>
                </c:pt>
                <c:pt idx="55">
                  <c:v>1029702.1762006974</c:v>
                </c:pt>
                <c:pt idx="56">
                  <c:v>1024087.0215623457</c:v>
                </c:pt>
                <c:pt idx="57">
                  <c:v>1008116.7372998325</c:v>
                </c:pt>
                <c:pt idx="58">
                  <c:v>983621.644257974</c:v>
                </c:pt>
                <c:pt idx="59">
                  <c:v>960486.47740594042</c:v>
                </c:pt>
                <c:pt idx="60">
                  <c:v>1124781.3085821189</c:v>
                </c:pt>
                <c:pt idx="61">
                  <c:v>1331951.9573793656</c:v>
                </c:pt>
                <c:pt idx="62">
                  <c:v>1432859.6799414305</c:v>
                </c:pt>
                <c:pt idx="63">
                  <c:v>1451539.2123681498</c:v>
                </c:pt>
                <c:pt idx="64">
                  <c:v>1435391.0982373757</c:v>
                </c:pt>
                <c:pt idx="65">
                  <c:v>1421239.6865529099</c:v>
                </c:pt>
                <c:pt idx="66">
                  <c:v>1411906.8994106662</c:v>
                </c:pt>
                <c:pt idx="67">
                  <c:v>1398204.2526369938</c:v>
                </c:pt>
                <c:pt idx="68">
                  <c:v>1636227.701491547</c:v>
                </c:pt>
                <c:pt idx="69">
                  <c:v>1856159.997362273</c:v>
                </c:pt>
                <c:pt idx="70">
                  <c:v>1935022.2740476939</c:v>
                </c:pt>
                <c:pt idx="71">
                  <c:v>1977231.1888653976</c:v>
                </c:pt>
                <c:pt idx="72">
                  <c:v>2168145.2646357659</c:v>
                </c:pt>
                <c:pt idx="73">
                  <c:v>2401864.7775352816</c:v>
                </c:pt>
                <c:pt idx="74">
                  <c:v>2505888.821527415</c:v>
                </c:pt>
                <c:pt idx="75">
                  <c:v>2524702.9283143678</c:v>
                </c:pt>
                <c:pt idx="76">
                  <c:v>2510107.0806886246</c:v>
                </c:pt>
                <c:pt idx="77">
                  <c:v>2497493.4448561808</c:v>
                </c:pt>
                <c:pt idx="78">
                  <c:v>2489723.2526383377</c:v>
                </c:pt>
                <c:pt idx="79">
                  <c:v>2477531.6771671339</c:v>
                </c:pt>
                <c:pt idx="80">
                  <c:v>2733851.0039858129</c:v>
                </c:pt>
                <c:pt idx="81">
                  <c:v>2944130.954919301</c:v>
                </c:pt>
                <c:pt idx="82">
                  <c:v>3028803.6177449967</c:v>
                </c:pt>
                <c:pt idx="83">
                  <c:v>3074781.4023505878</c:v>
                </c:pt>
                <c:pt idx="84">
                  <c:v>3275020.5272562425</c:v>
                </c:pt>
                <c:pt idx="85">
                  <c:v>3511531.6202444746</c:v>
                </c:pt>
                <c:pt idx="86">
                  <c:v>3622740.8282369226</c:v>
                </c:pt>
                <c:pt idx="87">
                  <c:v>3645441.5397771155</c:v>
                </c:pt>
                <c:pt idx="88">
                  <c:v>3632425.0189197208</c:v>
                </c:pt>
                <c:pt idx="89">
                  <c:v>3621376.2731460626</c:v>
                </c:pt>
                <c:pt idx="90">
                  <c:v>3615198.6460447828</c:v>
                </c:pt>
                <c:pt idx="91">
                  <c:v>3604546.2132924772</c:v>
                </c:pt>
                <c:pt idx="92">
                  <c:v>3879607.2873703577</c:v>
                </c:pt>
                <c:pt idx="93">
                  <c:v>4101781.526549927</c:v>
                </c:pt>
                <c:pt idx="94">
                  <c:v>4192402.5951867034</c:v>
                </c:pt>
                <c:pt idx="95">
                  <c:v>4267641.5269875247</c:v>
                </c:pt>
                <c:pt idx="96">
                  <c:v>4477299.6837716438</c:v>
                </c:pt>
                <c:pt idx="97">
                  <c:v>4594110.5845249984</c:v>
                </c:pt>
                <c:pt idx="98">
                  <c:v>4623767.4163270285</c:v>
                </c:pt>
                <c:pt idx="99">
                  <c:v>4651290.1716591306</c:v>
                </c:pt>
                <c:pt idx="100">
                  <c:v>4639884.6734377733</c:v>
                </c:pt>
                <c:pt idx="101">
                  <c:v>4630432.5672643203</c:v>
                </c:pt>
                <c:pt idx="102">
                  <c:v>4625878.4084451804</c:v>
                </c:pt>
                <c:pt idx="103">
                  <c:v>4616793.1975496672</c:v>
                </c:pt>
                <c:pt idx="104">
                  <c:v>4911060.0618257513</c:v>
                </c:pt>
                <c:pt idx="105">
                  <c:v>5040973.4124915563</c:v>
                </c:pt>
                <c:pt idx="106">
                  <c:v>5103745.9737031572</c:v>
                </c:pt>
                <c:pt idx="107">
                  <c:v>5123979.7654022574</c:v>
                </c:pt>
                <c:pt idx="108">
                  <c:v>5189268.8163981177</c:v>
                </c:pt>
                <c:pt idx="109">
                  <c:v>5243424.1775336806</c:v>
                </c:pt>
                <c:pt idx="110">
                  <c:v>5270575.0805450613</c:v>
                </c:pt>
                <c:pt idx="111">
                  <c:v>5303283.8955779439</c:v>
                </c:pt>
                <c:pt idx="112">
                  <c:v>5293522.0494602611</c:v>
                </c:pt>
                <c:pt idx="113">
                  <c:v>5285695.5637963321</c:v>
                </c:pt>
                <c:pt idx="114">
                  <c:v>5282797.634851831</c:v>
                </c:pt>
                <c:pt idx="115">
                  <c:v>5275310.5091066211</c:v>
                </c:pt>
                <c:pt idx="116">
                  <c:v>5500699.6509799184</c:v>
                </c:pt>
                <c:pt idx="117">
                  <c:v>5611795.1510394383</c:v>
                </c:pt>
                <c:pt idx="118">
                  <c:v>5671515.2144142101</c:v>
                </c:pt>
                <c:pt idx="119">
                  <c:v>5687990.4156149225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E4F-480D-AADB-C893BEE495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499"/>
                </a:solidFill>
                <a:latin typeface="+mj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2"/>
        <c:tickMarkSkip val="12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[$R$-416]\ 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8499"/>
                </a:solidFill>
                <a:latin typeface="+mj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9.6662107748579626E-2"/>
          <c:y val="1.7213820238534367E-2"/>
          <c:w val="0.8459960577217005"/>
          <c:h val="0.9287347842124679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Banco @ PPA (R$)</c:v>
                </c:pt>
              </c:strCache>
            </c:strRef>
          </c:tx>
          <c:spPr>
            <a:solidFill>
              <a:srgbClr val="004B7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5BF-4CBF-B83A-76711C4DCB7C}"/>
              </c:ext>
            </c:extLst>
          </c:dPt>
          <c:dPt>
            <c:idx val="1"/>
            <c:invertIfNegative val="0"/>
            <c:bubble3D val="0"/>
            <c:spPr>
              <a:solidFill>
                <a:srgbClr val="669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BF-4CBF-B83A-76711C4DCB7C}"/>
              </c:ext>
            </c:extLst>
          </c:dPt>
          <c:dPt>
            <c:idx val="2"/>
            <c:invertIfNegative val="0"/>
            <c:bubble3D val="0"/>
            <c:spPr>
              <a:solidFill>
                <a:srgbClr val="669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BF-4CBF-B83A-76711C4DCB7C}"/>
              </c:ext>
            </c:extLst>
          </c:dPt>
          <c:dPt>
            <c:idx val="3"/>
            <c:invertIfNegative val="0"/>
            <c:bubble3D val="0"/>
            <c:spPr>
              <a:solidFill>
                <a:srgbClr val="669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5BF-4CBF-B83A-76711C4DCB7C}"/>
              </c:ext>
            </c:extLst>
          </c:dPt>
          <c:dPt>
            <c:idx val="4"/>
            <c:invertIfNegative val="0"/>
            <c:bubble3D val="0"/>
            <c:spPr>
              <a:solidFill>
                <a:srgbClr val="669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5BF-4CBF-B83A-76711C4DCB7C}"/>
              </c:ext>
            </c:extLst>
          </c:dPt>
          <c:dPt>
            <c:idx val="5"/>
            <c:invertIfNegative val="0"/>
            <c:bubble3D val="0"/>
            <c:spPr>
              <a:solidFill>
                <a:srgbClr val="669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5BF-4CBF-B83A-76711C4DCB7C}"/>
              </c:ext>
            </c:extLst>
          </c:dPt>
          <c:dPt>
            <c:idx val="6"/>
            <c:invertIfNegative val="0"/>
            <c:bubble3D val="0"/>
            <c:spPr>
              <a:solidFill>
                <a:srgbClr val="669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5BF-4CBF-B83A-76711C4DCB7C}"/>
              </c:ext>
            </c:extLst>
          </c:dPt>
          <c:dPt>
            <c:idx val="7"/>
            <c:invertIfNegative val="0"/>
            <c:bubble3D val="0"/>
            <c:spPr>
              <a:solidFill>
                <a:srgbClr val="669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5BF-4CBF-B83A-76711C4DCB7C}"/>
              </c:ext>
            </c:extLst>
          </c:dPt>
          <c:dPt>
            <c:idx val="8"/>
            <c:invertIfNegative val="0"/>
            <c:bubble3D val="0"/>
            <c:spPr>
              <a:solidFill>
                <a:srgbClr val="7A84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5BF-4CBF-B83A-76711C4DCB7C}"/>
              </c:ext>
            </c:extLst>
          </c:dPt>
          <c:dLbls>
            <c:numFmt formatCode="\R\$\ 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65E73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NHS</c:v>
                </c:pt>
                <c:pt idx="1">
                  <c:v>AMD</c:v>
                </c:pt>
                <c:pt idx="2">
                  <c:v>Entreposto</c:v>
                </c:pt>
                <c:pt idx="3">
                  <c:v>Posto</c:v>
                </c:pt>
                <c:pt idx="4">
                  <c:v>Lab.Solos</c:v>
                </c:pt>
                <c:pt idx="5">
                  <c:v>AREC</c:v>
                </c:pt>
                <c:pt idx="6">
                  <c:v>TRR</c:v>
                </c:pt>
                <c:pt idx="7">
                  <c:v>Esc.Deod</c:v>
                </c:pt>
                <c:pt idx="8">
                  <c:v>Outros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51809</c:v>
                </c:pt>
                <c:pt idx="1">
                  <c:v>183010</c:v>
                </c:pt>
                <c:pt idx="2">
                  <c:v>17963</c:v>
                </c:pt>
                <c:pt idx="3">
                  <c:v>36036</c:v>
                </c:pt>
                <c:pt idx="4">
                  <c:v>18719</c:v>
                </c:pt>
                <c:pt idx="5">
                  <c:v>49586</c:v>
                </c:pt>
                <c:pt idx="6">
                  <c:v>18086</c:v>
                </c:pt>
                <c:pt idx="7">
                  <c:v>49947</c:v>
                </c:pt>
                <c:pt idx="8">
                  <c:v>174548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5BF-4CBF-B83A-76711C4DCB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5E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[$R$-416]\ 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4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1131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sv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28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lide 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32C1FE-3523-661D-EB28-3EBC19B57C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7" y="1"/>
            <a:ext cx="12220944" cy="6876000"/>
          </a:xfrm>
          <a:prstGeom prst="rect">
            <a:avLst/>
          </a:prstGeom>
        </p:spPr>
      </p:pic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B30FD4FC-9E1C-1B0B-97C8-2DE860AC89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1518" y="4403617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Content Placeholder 17">
            <a:extLst>
              <a:ext uri="{FF2B5EF4-FFF2-40B4-BE49-F238E27FC236}">
                <a16:creationId xmlns:a16="http://schemas.microsoft.com/office/drawing/2014/main" id="{F4305A74-F2C2-95FA-B7F7-5B9B5BFBE88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81518" y="4768022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1800" b="0" i="0" kern="1200" dirty="0" smtClean="0">
                <a:solidFill>
                  <a:srgbClr val="FFEB66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A505A0EF-AD9B-8603-9E9F-050B72F99D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1517" y="2905780"/>
            <a:ext cx="6719047" cy="5232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400" b="0" i="0" kern="1200" dirty="0" smtClean="0">
                <a:solidFill>
                  <a:schemeClr val="bg1"/>
                </a:solidFill>
                <a:latin typeface="Geologica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FA6A02B-FC10-54DA-5072-0C6B8A1E05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388" y="503846"/>
            <a:ext cx="1790080" cy="385886"/>
          </a:xfrm>
          <a:prstGeom prst="rect">
            <a:avLst/>
          </a:prstGeom>
        </p:spPr>
      </p:pic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97BB419F-1B0A-D882-FD5B-30054572A80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9388" y="5856878"/>
            <a:ext cx="6180191" cy="2308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n-GB" sz="1500" b="0" i="0" kern="1200" dirty="0" smtClean="0">
                <a:solidFill>
                  <a:srgbClr val="6693A9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7CA76D8-8729-0AF5-EFED-EF8D64EF5E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388" y="6212050"/>
            <a:ext cx="101023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lang="en-GB" sz="1400" b="0" i="0" kern="1200" smtClean="0">
                <a:solidFill>
                  <a:srgbClr val="6693A9"/>
                </a:solidFill>
                <a:latin typeface="Geologica ExtraLight" pitchFamily="2" charset="0"/>
                <a:ea typeface="+mj-ea"/>
                <a:cs typeface="+mj-cs"/>
              </a:defRPr>
            </a:lvl1pPr>
          </a:lstStyle>
          <a:p>
            <a:fld id="{41E09AE8-D08C-5342-B620-44B450BC1F3B}" type="datetimeFigureOut">
              <a:rPr lang="en-BE" smtClean="0"/>
              <a:pPr/>
              <a:t>25/03/2026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97192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pening slide OFFER P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32C1FE-3523-661D-EB28-3EBC19B57C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" y="1"/>
            <a:ext cx="12223236" cy="6876000"/>
          </a:xfrm>
          <a:prstGeom prst="rect">
            <a:avLst/>
          </a:prstGeom>
        </p:spPr>
      </p:pic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B30FD4FC-9E1C-1B0B-97C8-2DE860AC89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1518" y="4591875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Content Placeholder 17">
            <a:extLst>
              <a:ext uri="{FF2B5EF4-FFF2-40B4-BE49-F238E27FC236}">
                <a16:creationId xmlns:a16="http://schemas.microsoft.com/office/drawing/2014/main" id="{F4305A74-F2C2-95FA-B7F7-5B9B5BFBE88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81518" y="4956280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1800" b="0" i="0" kern="1200" dirty="0" smtClean="0">
                <a:solidFill>
                  <a:srgbClr val="FFEB66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A505A0EF-AD9B-8603-9E9F-050B72F99D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1517" y="3309190"/>
            <a:ext cx="6719047" cy="523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400" b="0" i="0" kern="1200" dirty="0" smtClean="0">
                <a:solidFill>
                  <a:schemeClr val="bg1"/>
                </a:solidFill>
                <a:latin typeface="Geologica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FA6A02B-FC10-54DA-5072-0C6B8A1E05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388" y="503846"/>
            <a:ext cx="1790080" cy="385886"/>
          </a:xfrm>
          <a:prstGeom prst="rect">
            <a:avLst/>
          </a:prstGeom>
        </p:spPr>
      </p:pic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97BB419F-1B0A-D882-FD5B-30054572A80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9388" y="5856878"/>
            <a:ext cx="6180191" cy="2308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n-GB" sz="1500" b="0" i="0" kern="1200" dirty="0" smtClean="0">
                <a:solidFill>
                  <a:srgbClr val="6693A9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51AAE08-B9E9-3128-91AB-EC908C147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388" y="6212050"/>
            <a:ext cx="10116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lang="en-GB" sz="1400" b="0" i="0" kern="1200" smtClean="0">
                <a:solidFill>
                  <a:srgbClr val="6693A9"/>
                </a:solidFill>
                <a:latin typeface="Geologica ExtraLight" pitchFamily="2" charset="0"/>
                <a:ea typeface="+mj-ea"/>
                <a:cs typeface="+mj-cs"/>
              </a:defRPr>
            </a:lvl1pPr>
          </a:lstStyle>
          <a:p>
            <a:fld id="{41E09AE8-D08C-5342-B620-44B450BC1F3B}" type="datetimeFigureOut">
              <a:rPr lang="en-BE" smtClean="0"/>
              <a:pPr/>
              <a:t>25/03/2026</a:t>
            </a:fld>
            <a:endParaRPr lang="en-BE"/>
          </a:p>
        </p:txBody>
      </p:sp>
      <p:sp>
        <p:nvSpPr>
          <p:cNvPr id="4" name="Content Placeholder 17">
            <a:extLst>
              <a:ext uri="{FF2B5EF4-FFF2-40B4-BE49-F238E27FC236}">
                <a16:creationId xmlns:a16="http://schemas.microsoft.com/office/drawing/2014/main" id="{0F356423-C3B1-CA53-427E-E8ABD720C9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81518" y="3907410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1800" b="0" i="0" kern="1200" dirty="0" smtClean="0">
                <a:solidFill>
                  <a:schemeClr val="bg1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12123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lide OFFER PV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32C1FE-3523-661D-EB28-3EBC19B57C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" y="1"/>
            <a:ext cx="12223236" cy="687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F3B4E41-B1AB-5DBB-4FEE-B429AA4A37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388" y="503846"/>
            <a:ext cx="1790080" cy="385886"/>
          </a:xfrm>
          <a:prstGeom prst="rect">
            <a:avLst/>
          </a:prstGeom>
        </p:spPr>
      </p:pic>
      <p:sp>
        <p:nvSpPr>
          <p:cNvPr id="9" name="Content Placeholder 17">
            <a:extLst>
              <a:ext uri="{FF2B5EF4-FFF2-40B4-BE49-F238E27FC236}">
                <a16:creationId xmlns:a16="http://schemas.microsoft.com/office/drawing/2014/main" id="{33A28AFB-AC82-A88C-CD95-DF9D2F7171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9388" y="5865191"/>
            <a:ext cx="6180191" cy="2308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n-GB" sz="1500" b="0" i="0" kern="1200" dirty="0" smtClean="0">
                <a:solidFill>
                  <a:srgbClr val="6693A9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5471440-EE0D-BCDE-6BB2-987DD1859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388" y="6212050"/>
            <a:ext cx="10116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lang="en-GB" sz="1400" b="0" i="0" kern="1200" smtClean="0">
                <a:solidFill>
                  <a:srgbClr val="6693A9"/>
                </a:solidFill>
                <a:latin typeface="Geologica ExtraLight" pitchFamily="2" charset="0"/>
                <a:ea typeface="+mj-ea"/>
                <a:cs typeface="+mj-cs"/>
              </a:defRPr>
            </a:lvl1pPr>
          </a:lstStyle>
          <a:p>
            <a:fld id="{41E09AE8-D08C-5342-B620-44B450BC1F3B}" type="datetimeFigureOut">
              <a:rPr lang="en-BE" smtClean="0"/>
              <a:pPr/>
              <a:t>25/03/2026</a:t>
            </a:fld>
            <a:endParaRPr lang="en-BE"/>
          </a:p>
        </p:txBody>
      </p:sp>
      <p:sp>
        <p:nvSpPr>
          <p:cNvPr id="11" name="Content Placeholder 17">
            <a:extLst>
              <a:ext uri="{FF2B5EF4-FFF2-40B4-BE49-F238E27FC236}">
                <a16:creationId xmlns:a16="http://schemas.microsoft.com/office/drawing/2014/main" id="{537F2DC6-FA58-C492-C3E4-9AF7419F83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1518" y="4591875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17">
            <a:extLst>
              <a:ext uri="{FF2B5EF4-FFF2-40B4-BE49-F238E27FC236}">
                <a16:creationId xmlns:a16="http://schemas.microsoft.com/office/drawing/2014/main" id="{52154A69-0647-A319-5508-4AA9A4CC807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81518" y="4956280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1800" b="0" i="0" kern="1200" dirty="0" smtClean="0">
                <a:solidFill>
                  <a:srgbClr val="FFEB66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17">
            <a:extLst>
              <a:ext uri="{FF2B5EF4-FFF2-40B4-BE49-F238E27FC236}">
                <a16:creationId xmlns:a16="http://schemas.microsoft.com/office/drawing/2014/main" id="{2CFEF492-E24A-B6C4-1916-FC6764A066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1517" y="3309190"/>
            <a:ext cx="6719047" cy="523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400" b="0" i="0" kern="1200" dirty="0" smtClean="0">
                <a:solidFill>
                  <a:schemeClr val="bg1"/>
                </a:solidFill>
                <a:latin typeface="Geologica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Content Placeholder 17">
            <a:extLst>
              <a:ext uri="{FF2B5EF4-FFF2-40B4-BE49-F238E27FC236}">
                <a16:creationId xmlns:a16="http://schemas.microsoft.com/office/drawing/2014/main" id="{E49E4B1D-31DA-2FDB-D562-9CF5787830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81518" y="3907410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1800" b="0" i="0" kern="1200" dirty="0" smtClean="0">
                <a:solidFill>
                  <a:schemeClr val="bg1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75324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lide 3 - En Opt &amp; 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32C1FE-3523-661D-EB28-3EBC19B57C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" y="1"/>
            <a:ext cx="12223236" cy="687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C2C9D53-0770-294D-8425-B8B2F9B7A2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388" y="503846"/>
            <a:ext cx="1790080" cy="385886"/>
          </a:xfrm>
          <a:prstGeom prst="rect">
            <a:avLst/>
          </a:prstGeom>
        </p:spPr>
      </p:pic>
      <p:sp>
        <p:nvSpPr>
          <p:cNvPr id="9" name="Content Placeholder 17">
            <a:extLst>
              <a:ext uri="{FF2B5EF4-FFF2-40B4-BE49-F238E27FC236}">
                <a16:creationId xmlns:a16="http://schemas.microsoft.com/office/drawing/2014/main" id="{E0437D79-7D87-62E9-EBB0-A28DF610CB2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9388" y="5856878"/>
            <a:ext cx="6180191" cy="2308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n-GB" sz="1500" b="0" i="0" kern="1200" dirty="0" smtClean="0">
                <a:solidFill>
                  <a:srgbClr val="6693A9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7B22CD6-DC65-3A4C-9612-1D895F73EA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388" y="6212050"/>
            <a:ext cx="10116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lang="en-GB" sz="1400" b="0" i="0" kern="1200" smtClean="0">
                <a:solidFill>
                  <a:srgbClr val="6693A9"/>
                </a:solidFill>
                <a:latin typeface="Geologica ExtraLight" pitchFamily="2" charset="0"/>
                <a:ea typeface="+mj-ea"/>
                <a:cs typeface="+mj-cs"/>
              </a:defRPr>
            </a:lvl1pPr>
          </a:lstStyle>
          <a:p>
            <a:fld id="{41E09AE8-D08C-5342-B620-44B450BC1F3B}" type="datetimeFigureOut">
              <a:rPr lang="en-BE" smtClean="0"/>
              <a:pPr/>
              <a:t>25/03/2026</a:t>
            </a:fld>
            <a:endParaRPr lang="en-BE"/>
          </a:p>
        </p:txBody>
      </p:sp>
      <p:sp>
        <p:nvSpPr>
          <p:cNvPr id="11" name="Content Placeholder 17">
            <a:extLst>
              <a:ext uri="{FF2B5EF4-FFF2-40B4-BE49-F238E27FC236}">
                <a16:creationId xmlns:a16="http://schemas.microsoft.com/office/drawing/2014/main" id="{4F28EE7D-D419-3DC6-8563-30CBE65E53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1518" y="4591875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17">
            <a:extLst>
              <a:ext uri="{FF2B5EF4-FFF2-40B4-BE49-F238E27FC236}">
                <a16:creationId xmlns:a16="http://schemas.microsoft.com/office/drawing/2014/main" id="{DCD421DF-1BBE-37EC-26BF-BABDF4FA6D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81518" y="4956280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1800" b="0" i="0" kern="1200" dirty="0" smtClean="0">
                <a:solidFill>
                  <a:srgbClr val="FFEB66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17">
            <a:extLst>
              <a:ext uri="{FF2B5EF4-FFF2-40B4-BE49-F238E27FC236}">
                <a16:creationId xmlns:a16="http://schemas.microsoft.com/office/drawing/2014/main" id="{3BADDE0B-F59B-E6AD-DCFD-8831E0DD3B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1517" y="3309190"/>
            <a:ext cx="6719047" cy="523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400" b="0" i="0" kern="1200" dirty="0" smtClean="0">
                <a:solidFill>
                  <a:schemeClr val="bg1"/>
                </a:solidFill>
                <a:latin typeface="Geologica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Content Placeholder 17">
            <a:extLst>
              <a:ext uri="{FF2B5EF4-FFF2-40B4-BE49-F238E27FC236}">
                <a16:creationId xmlns:a16="http://schemas.microsoft.com/office/drawing/2014/main" id="{D93B1D2F-2A73-9E63-6067-A549D0E68AF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81518" y="3907410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1800" b="0" i="0" kern="1200" dirty="0" smtClean="0">
                <a:solidFill>
                  <a:schemeClr val="bg1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7132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957415-AD66-6D12-5931-D8DAD32374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Geologica" pitchFamily="2" charset="0"/>
            </a:endParaRPr>
          </a:p>
        </p:txBody>
      </p:sp>
      <p:pic>
        <p:nvPicPr>
          <p:cNvPr id="8" name="Graphic 1">
            <a:extLst>
              <a:ext uri="{FF2B5EF4-FFF2-40B4-BE49-F238E27FC236}">
                <a16:creationId xmlns:a16="http://schemas.microsoft.com/office/drawing/2014/main" id="{81FCE973-BF10-50DE-9AF1-44382C87AF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922" y="503846"/>
            <a:ext cx="1781012" cy="385886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6470FD3-6ED3-C824-BDE7-CD105F399C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88887" y="2165396"/>
            <a:ext cx="8737253" cy="39022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rgbClr val="FFEB66"/>
              </a:buClr>
              <a:buFont typeface="+mj-lt"/>
              <a:buNone/>
              <a:defRPr sz="2400" b="0" i="0" spc="30" baseline="0">
                <a:solidFill>
                  <a:schemeClr val="bg1"/>
                </a:solidFill>
                <a:latin typeface="Geologica Light" pitchFamily="2" charset="0"/>
              </a:defRPr>
            </a:lvl1pPr>
            <a:lvl2pPr marL="457200" indent="0">
              <a:buClr>
                <a:srgbClr val="FFEB66"/>
              </a:buClr>
              <a:buFont typeface="+mj-lt"/>
              <a:buNone/>
              <a:defRPr sz="2400" b="0" i="0" spc="30" baseline="0">
                <a:solidFill>
                  <a:schemeClr val="bg1"/>
                </a:solidFill>
                <a:latin typeface="Geologica Light" pitchFamily="2" charset="0"/>
              </a:defRPr>
            </a:lvl2pPr>
            <a:lvl3pPr marL="914400" indent="0">
              <a:buClr>
                <a:srgbClr val="FFEB66"/>
              </a:buClr>
              <a:buFont typeface="+mj-lt"/>
              <a:buNone/>
              <a:defRPr sz="2400" b="0" i="0" spc="30" baseline="0">
                <a:solidFill>
                  <a:schemeClr val="bg1"/>
                </a:solidFill>
                <a:latin typeface="Geologica Light" pitchFamily="2" charset="0"/>
              </a:defRPr>
            </a:lvl3pPr>
            <a:lvl4pPr marL="1371600" indent="0">
              <a:buClr>
                <a:srgbClr val="FFEB66"/>
              </a:buClr>
              <a:buFont typeface="+mj-lt"/>
              <a:buNone/>
              <a:defRPr sz="2400" b="0" i="0" spc="30" baseline="0">
                <a:solidFill>
                  <a:schemeClr val="bg1"/>
                </a:solidFill>
                <a:latin typeface="Geologica Light" pitchFamily="2" charset="0"/>
              </a:defRPr>
            </a:lvl4pPr>
            <a:lvl5pPr marL="1828800" indent="0">
              <a:buClr>
                <a:srgbClr val="FFEB66"/>
              </a:buClr>
              <a:buFont typeface="+mj-lt"/>
              <a:buNone/>
              <a:defRPr sz="2400" b="0" i="0" spc="30" baseline="0">
                <a:solidFill>
                  <a:schemeClr val="bg1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B81F0C-D046-33D6-C94E-395A24D1AB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2065640"/>
            <a:ext cx="2538024" cy="468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rgbClr val="FFEB66"/>
              </a:buClr>
              <a:buFont typeface="+mj-lt"/>
              <a:buNone/>
              <a:defRPr sz="3200" b="0" i="0">
                <a:solidFill>
                  <a:schemeClr val="bg1"/>
                </a:solidFill>
                <a:latin typeface="Geologica Light" pitchFamily="2" charset="0"/>
              </a:defRPr>
            </a:lvl1pPr>
            <a:lvl2pPr marL="914400" indent="-4572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2pPr>
            <a:lvl3pPr marL="1371600" indent="-4572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3pPr>
            <a:lvl4pPr marL="1714500" indent="-3429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4pPr>
            <a:lvl5pPr marL="2171700" indent="-3429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15DB5F4-2020-8FAF-3061-F1DC499992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2904472"/>
            <a:ext cx="1479550" cy="1479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Geologica ExtraLight" pitchFamily="2" charset="0"/>
              </a:defRPr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191144-67FD-9BC6-EA3A-50F7F5520D27}"/>
              </a:ext>
            </a:extLst>
          </p:cNvPr>
          <p:cNvSpPr txBox="1"/>
          <p:nvPr userDrawn="1"/>
        </p:nvSpPr>
        <p:spPr>
          <a:xfrm>
            <a:off x="7483599" y="6183192"/>
            <a:ext cx="415514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600" b="0" i="0" err="1">
                <a:solidFill>
                  <a:schemeClr val="bg1"/>
                </a:solidFill>
                <a:latin typeface="Geologica" pitchFamily="2" charset="0"/>
              </a:rPr>
              <a:t>helexia.group</a:t>
            </a:r>
            <a:endParaRPr lang="en-GB" sz="1600" b="0" i="0">
              <a:solidFill>
                <a:schemeClr val="bg1"/>
              </a:solidFill>
              <a:latin typeface="Geolog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62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TO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CB07E3-8F42-56E9-5541-F2030880B6B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DF1A9-6134-D93A-8252-8E39937AC1C9}"/>
              </a:ext>
            </a:extLst>
          </p:cNvPr>
          <p:cNvSpPr txBox="1"/>
          <p:nvPr userDrawn="1"/>
        </p:nvSpPr>
        <p:spPr>
          <a:xfrm>
            <a:off x="7483599" y="6348289"/>
            <a:ext cx="415514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600" b="0" i="0" err="1">
                <a:solidFill>
                  <a:schemeClr val="bg1"/>
                </a:solidFill>
                <a:latin typeface="Geologica" pitchFamily="2" charset="0"/>
              </a:rPr>
              <a:t>helexia.group</a:t>
            </a:r>
            <a:endParaRPr lang="en-GB" sz="1600" b="0" i="0">
              <a:solidFill>
                <a:schemeClr val="bg1"/>
              </a:solidFill>
              <a:latin typeface="Geologica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ABEC12D-24E6-7CEA-8C99-AE0587F74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54" y="2057327"/>
            <a:ext cx="2844396" cy="1325563"/>
          </a:xfrm>
        </p:spPr>
        <p:txBody>
          <a:bodyPr/>
          <a:lstStyle>
            <a:lvl1pPr>
              <a:defRPr sz="2800" b="0" i="0">
                <a:solidFill>
                  <a:schemeClr val="bg1"/>
                </a:solidFill>
                <a:latin typeface="Geologica Light" pitchFamily="2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F1B5834F-6C82-888C-BC2B-B869A8697A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288837"/>
            <a:ext cx="2743200" cy="365125"/>
          </a:xfrm>
        </p:spPr>
        <p:txBody>
          <a:bodyPr/>
          <a:lstStyle>
            <a:lvl1pPr algn="ctr">
              <a:defRPr b="0" i="0">
                <a:solidFill>
                  <a:schemeClr val="accent1"/>
                </a:solidFill>
                <a:latin typeface="Geologica" pitchFamily="2" charset="0"/>
              </a:defRPr>
            </a:lvl1pPr>
          </a:lstStyle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1E05FD4-F92C-13AD-6710-DE7E3CCA64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48318" y="2065640"/>
            <a:ext cx="8292820" cy="3902231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rgbClr val="FFEB66"/>
              </a:buClr>
              <a:buFont typeface="+mj-lt"/>
              <a:buAutoNum type="arabicPeriod"/>
              <a:defRPr sz="2000" b="0" i="0">
                <a:solidFill>
                  <a:schemeClr val="bg1"/>
                </a:solidFill>
                <a:latin typeface="Geologica Light" pitchFamily="2" charset="0"/>
              </a:defRPr>
            </a:lvl1pPr>
            <a:lvl2pPr marL="914400" indent="-457200">
              <a:buClr>
                <a:srgbClr val="FFEB66"/>
              </a:buClr>
              <a:buFont typeface="+mj-lt"/>
              <a:buAutoNum type="arabicPeriod"/>
              <a:defRPr sz="2000" b="0" i="0">
                <a:solidFill>
                  <a:schemeClr val="bg1"/>
                </a:solidFill>
                <a:latin typeface="Geologica Light" pitchFamily="2" charset="0"/>
              </a:defRPr>
            </a:lvl2pPr>
            <a:lvl3pPr marL="1371600" indent="-457200">
              <a:buClr>
                <a:srgbClr val="FFEB66"/>
              </a:buClr>
              <a:buFont typeface="+mj-lt"/>
              <a:buAutoNum type="arabicPeriod"/>
              <a:defRPr sz="2000" b="0" i="0">
                <a:solidFill>
                  <a:schemeClr val="bg1"/>
                </a:solidFill>
                <a:latin typeface="Geologica Light" pitchFamily="2" charset="0"/>
              </a:defRPr>
            </a:lvl3pPr>
            <a:lvl4pPr marL="1714500" indent="-342900">
              <a:buClr>
                <a:srgbClr val="FFEB66"/>
              </a:buClr>
              <a:buFont typeface="+mj-lt"/>
              <a:buAutoNum type="arabicPeriod"/>
              <a:defRPr sz="2000" b="0" i="0">
                <a:solidFill>
                  <a:schemeClr val="bg1"/>
                </a:solidFill>
                <a:latin typeface="Geologica Light" pitchFamily="2" charset="0"/>
              </a:defRPr>
            </a:lvl4pPr>
            <a:lvl5pPr marL="2171700" indent="-342900">
              <a:buClr>
                <a:srgbClr val="FFEB66"/>
              </a:buClr>
              <a:buFont typeface="+mj-lt"/>
              <a:buAutoNum type="arabicPeriod"/>
              <a:defRPr sz="2000" b="0" i="0">
                <a:solidFill>
                  <a:schemeClr val="bg1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444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blu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F999E0-9C88-055A-A7F9-FD01522997E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7D2AD7D0-ED7F-3B1E-D225-5E001AB43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4482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0" i="0">
                <a:solidFill>
                  <a:srgbClr val="6693A9"/>
                </a:solidFill>
                <a:latin typeface="Geologica Light" pitchFamily="2" charset="0"/>
              </a:defRPr>
            </a:lvl1pPr>
          </a:lstStyle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C07E7C-9B89-6210-60E8-5F84BC61A115}"/>
              </a:ext>
            </a:extLst>
          </p:cNvPr>
          <p:cNvSpPr txBox="1"/>
          <p:nvPr userDrawn="1"/>
        </p:nvSpPr>
        <p:spPr>
          <a:xfrm>
            <a:off x="7483599" y="6183192"/>
            <a:ext cx="415514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600" b="0" i="0" err="1">
                <a:solidFill>
                  <a:schemeClr val="bg1"/>
                </a:solidFill>
                <a:latin typeface="Geologica" pitchFamily="2" charset="0"/>
              </a:rPr>
              <a:t>helexia.group</a:t>
            </a:r>
            <a:endParaRPr lang="en-GB" sz="1600" b="0" i="0">
              <a:solidFill>
                <a:schemeClr val="bg1"/>
              </a:solidFill>
              <a:latin typeface="Geolog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722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TO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ABEC12D-24E6-7CEA-8C99-AE0587F74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23" y="2065640"/>
            <a:ext cx="2844395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F1B5834F-6C82-888C-BC2B-B869A8697A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394482"/>
            <a:ext cx="2743200" cy="365125"/>
          </a:xfrm>
        </p:spPr>
        <p:txBody>
          <a:bodyPr/>
          <a:lstStyle/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1E05FD4-F92C-13AD-6710-DE7E3CCA64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48318" y="2065640"/>
            <a:ext cx="8292820" cy="3902231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1pPr>
            <a:lvl2pPr marL="914400" indent="-4572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2pPr>
            <a:lvl3pPr marL="1371600" indent="-4572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3pPr>
            <a:lvl4pPr marL="1714500" indent="-3429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4pPr>
            <a:lvl5pPr marL="2171700" indent="-3429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455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69ED7-4E35-E0B6-5402-108164798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23" y="2557303"/>
            <a:ext cx="11134817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38C0E-4297-7F39-4B8E-7A8570EF28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394482"/>
            <a:ext cx="2743200" cy="365125"/>
          </a:xfrm>
        </p:spPr>
        <p:txBody>
          <a:bodyPr/>
          <a:lstStyle/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195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O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C58E9FC5-9081-536A-D1F5-68BF6B8B4D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3201" y="6260258"/>
            <a:ext cx="2743200" cy="365125"/>
          </a:xfrm>
        </p:spPr>
        <p:txBody>
          <a:bodyPr/>
          <a:lstStyle/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FD52EA1-83F3-2A75-C85D-AB79C3E80B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71275" y="2065640"/>
            <a:ext cx="8267465" cy="3902231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rgbClr val="FFEB66"/>
              </a:buClr>
              <a:buSzPct val="80000"/>
              <a:buFont typeface="System Font Regular"/>
              <a:buChar char="→"/>
              <a:defRPr b="0" i="0">
                <a:solidFill>
                  <a:schemeClr val="bg1"/>
                </a:solidFill>
                <a:latin typeface="Geologica Light" pitchFamily="2" charset="0"/>
              </a:defRPr>
            </a:lvl1pPr>
            <a:lvl2pPr marL="914400" indent="-457200">
              <a:buClr>
                <a:schemeClr val="bg1"/>
              </a:buClr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Geologica Light" pitchFamily="2" charset="0"/>
              </a:defRPr>
            </a:lvl2pPr>
            <a:lvl3pPr marL="1371600" indent="-457200">
              <a:buClr>
                <a:schemeClr val="bg1"/>
              </a:buClr>
              <a:buFont typeface="System Font Regular"/>
              <a:buChar char="-"/>
              <a:defRPr b="0" i="0">
                <a:solidFill>
                  <a:schemeClr val="bg1"/>
                </a:solidFill>
                <a:latin typeface="Geologica Light" pitchFamily="2" charset="0"/>
              </a:defRPr>
            </a:lvl3pPr>
            <a:lvl4pPr marL="1714500" indent="-3429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4pPr>
            <a:lvl5pPr marL="2171700" indent="-3429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D7EFE2F-40D2-DF85-64D4-532AD9D7F8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3" y="2065640"/>
            <a:ext cx="2820412" cy="468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rgbClr val="FFEB66"/>
              </a:buClr>
              <a:buFont typeface="+mj-lt"/>
              <a:buNone/>
              <a:defRPr sz="3200" b="0" i="0">
                <a:solidFill>
                  <a:schemeClr val="bg1"/>
                </a:solidFill>
                <a:latin typeface="Geologica Light" pitchFamily="2" charset="0"/>
              </a:defRPr>
            </a:lvl1pPr>
            <a:lvl2pPr marL="914400" indent="-4572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2pPr>
            <a:lvl3pPr marL="1371600" indent="-4572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3pPr>
            <a:lvl4pPr marL="1714500" indent="-3429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4pPr>
            <a:lvl5pPr marL="2171700" indent="-3429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53AA681-6E9D-444F-E6DA-FAF24116FF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2" y="480197"/>
            <a:ext cx="11087878" cy="15025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rgbClr val="FFEB66"/>
              </a:buClr>
              <a:buFont typeface="+mj-lt"/>
              <a:buNone/>
              <a:defRPr sz="6000" b="1" i="0">
                <a:solidFill>
                  <a:srgbClr val="FFEB66"/>
                </a:solidFill>
                <a:latin typeface="Geologica SemiBold" pitchFamily="2" charset="0"/>
              </a:defRPr>
            </a:lvl1pPr>
            <a:lvl2pPr marL="914400" indent="-4572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2pPr>
            <a:lvl3pPr marL="1371600" indent="-4572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3pPr>
            <a:lvl4pPr marL="1714500" indent="-3429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4pPr>
            <a:lvl5pPr marL="2171700" indent="-3429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5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242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ed state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9A05-3E01-7818-0864-A2C394D14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DB286-CFE2-1BF8-2600-8B1308BB7D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260258"/>
            <a:ext cx="2743200" cy="365125"/>
          </a:xfrm>
        </p:spPr>
        <p:txBody>
          <a:bodyPr/>
          <a:lstStyle/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C7CC14A8-FD9E-C312-8406-CE95A2CF73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922" y="503846"/>
            <a:ext cx="1781012" cy="38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918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EA28A7-0217-ECD8-5347-5DAC702C3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3" y="0"/>
            <a:ext cx="12189332" cy="685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91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FBEC-3FDF-5A64-DCE0-7DD000421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41" y="271419"/>
            <a:ext cx="10403541" cy="64970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C934D-7D6D-9CAC-CB0A-93EE3B518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363677"/>
            <a:ext cx="2743200" cy="365125"/>
          </a:xfrm>
        </p:spPr>
        <p:txBody>
          <a:bodyPr/>
          <a:lstStyle/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998338F-94FA-520D-2321-2D66504DB8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1341" y="1349298"/>
            <a:ext cx="11464086" cy="4850780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400" b="0" i="0">
                <a:solidFill>
                  <a:schemeClr val="tx1"/>
                </a:solidFill>
                <a:latin typeface="Geologica Light" pitchFamily="2" charset="0"/>
              </a:defRPr>
            </a:lvl1pPr>
            <a:lvl2pPr marL="627063" indent="-3063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-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2pPr>
            <a:lvl3pPr marL="9350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‣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3pPr>
            <a:lvl4pPr marL="12017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80000"/>
              <a:buFont typeface="Courier New" panose="02070309020205020404" pitchFamily="49" charset="0"/>
              <a:buChar char="o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4pPr>
            <a:lvl5pPr marL="1470025" indent="-2682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C5B19C7-ED5D-36A5-5DF5-97BA2192A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8671" y="271463"/>
            <a:ext cx="1006756" cy="649287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167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/ chart, tab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91243-8FCE-F8AC-A5F0-5AA101770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40" y="271419"/>
            <a:ext cx="10403541" cy="64970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094EB-7596-EDB4-5CD3-07455C6C03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363677"/>
            <a:ext cx="2743200" cy="365125"/>
          </a:xfrm>
        </p:spPr>
        <p:txBody>
          <a:bodyPr/>
          <a:lstStyle/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E1CC36E5-1F92-8CA2-0429-1770BB2F71E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80310" y="1349299"/>
            <a:ext cx="5545831" cy="485078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Geologica Light" pitchFamily="2" charset="0"/>
              </a:defRPr>
            </a:lvl1pPr>
            <a:lvl2pPr marL="457200" indent="0" algn="l">
              <a:buNone/>
              <a:defRPr sz="1800" b="0" i="0">
                <a:solidFill>
                  <a:schemeClr val="tx1"/>
                </a:solidFill>
                <a:latin typeface="Geologica Light" pitchFamily="2" charset="0"/>
              </a:defRPr>
            </a:lvl2pPr>
            <a:lvl3pPr marL="914400" indent="0" algn="l">
              <a:buNone/>
              <a:defRPr sz="1800" b="0" i="0">
                <a:solidFill>
                  <a:schemeClr val="tx1"/>
                </a:solidFill>
                <a:latin typeface="Geologica Light" pitchFamily="2" charset="0"/>
              </a:defRPr>
            </a:lvl3pPr>
            <a:lvl4pPr marL="1371600" indent="0" algn="l">
              <a:buNone/>
              <a:defRPr sz="1800" b="0" i="0">
                <a:solidFill>
                  <a:schemeClr val="tx1"/>
                </a:solidFill>
                <a:latin typeface="Geologica Light" pitchFamily="2" charset="0"/>
              </a:defRPr>
            </a:lvl4pPr>
            <a:lvl5pPr marL="1828800" indent="0" algn="l">
              <a:buNone/>
              <a:defRPr sz="1800" b="0" i="0">
                <a:solidFill>
                  <a:schemeClr val="tx1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B1584A6-520F-71A3-6BEF-479943FE32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8671" y="271463"/>
            <a:ext cx="1006756" cy="649287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B62748A-5B5D-231E-1F5F-6C131BA58C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1341" y="1349298"/>
            <a:ext cx="5674659" cy="4850780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400" b="0" i="0">
                <a:solidFill>
                  <a:schemeClr val="tx1"/>
                </a:solidFill>
                <a:latin typeface="Geologica Light" pitchFamily="2" charset="0"/>
              </a:defRPr>
            </a:lvl1pPr>
            <a:lvl2pPr marL="627063" indent="-3063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-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2pPr>
            <a:lvl3pPr marL="9350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‣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3pPr>
            <a:lvl4pPr marL="12017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80000"/>
              <a:buFont typeface="Courier New" panose="02070309020205020404" pitchFamily="49" charset="0"/>
              <a:buChar char="o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4pPr>
            <a:lvl5pPr marL="1470025" indent="-2682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9854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/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34494-9AD3-1F2A-05EB-A1730B658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41" y="271419"/>
            <a:ext cx="10403541" cy="64970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7CEBD-A71E-9EAB-CF24-CC7D976CD6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363677"/>
            <a:ext cx="2743200" cy="365125"/>
          </a:xfrm>
        </p:spPr>
        <p:txBody>
          <a:bodyPr/>
          <a:lstStyle/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ound Diagonal Corner of Rectangle 4">
            <a:extLst>
              <a:ext uri="{FF2B5EF4-FFF2-40B4-BE49-F238E27FC236}">
                <a16:creationId xmlns:a16="http://schemas.microsoft.com/office/drawing/2014/main" id="{7A8E1980-3CF4-843A-EF8C-3EA6CFB300FB}"/>
              </a:ext>
            </a:extLst>
          </p:cNvPr>
          <p:cNvSpPr/>
          <p:nvPr userDrawn="1"/>
        </p:nvSpPr>
        <p:spPr>
          <a:xfrm>
            <a:off x="6248367" y="1349298"/>
            <a:ext cx="5583077" cy="4850780"/>
          </a:xfrm>
          <a:prstGeom prst="round2DiagRect">
            <a:avLst>
              <a:gd name="adj1" fmla="val 13063"/>
              <a:gd name="adj2" fmla="val 0"/>
            </a:avLst>
          </a:prstGeom>
          <a:solidFill>
            <a:srgbClr val="CC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Geologica Light" pitchFamily="2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8C5338E-1AF8-BDCC-5CE0-135FC0F0A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8671" y="271463"/>
            <a:ext cx="1006756" cy="649287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31E78A8-9C9A-4202-9C9B-4FBEEBC762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1341" y="1349298"/>
            <a:ext cx="5522293" cy="4850780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400" b="0" i="0">
                <a:solidFill>
                  <a:schemeClr val="tx1"/>
                </a:solidFill>
                <a:latin typeface="Geologica Light" pitchFamily="2" charset="0"/>
              </a:defRPr>
            </a:lvl1pPr>
            <a:lvl2pPr marL="627063" indent="-3063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-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2pPr>
            <a:lvl3pPr marL="9350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‣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3pPr>
            <a:lvl4pPr marL="12017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80000"/>
              <a:buFont typeface="Courier New" panose="02070309020205020404" pitchFamily="49" charset="0"/>
              <a:buChar char="o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4pPr>
            <a:lvl5pPr marL="1470025" indent="-2682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8221752-014A-A1B3-6BEC-7D726791BE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46683" y="1695459"/>
            <a:ext cx="5058129" cy="4288482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400" b="0" i="0">
                <a:solidFill>
                  <a:schemeClr val="tx1"/>
                </a:solidFill>
                <a:latin typeface="Geologica Medium" pitchFamily="2" charset="0"/>
              </a:defRPr>
            </a:lvl1pPr>
            <a:lvl2pPr marL="627063" indent="-3063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-"/>
              <a:tabLst/>
              <a:defRPr sz="2000" b="0" i="0">
                <a:solidFill>
                  <a:schemeClr val="tx1"/>
                </a:solidFill>
                <a:latin typeface="Geologica Medium" pitchFamily="2" charset="0"/>
              </a:defRPr>
            </a:lvl2pPr>
            <a:lvl3pPr marL="9350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‣"/>
              <a:tabLst/>
              <a:defRPr sz="2000" b="0" i="0">
                <a:solidFill>
                  <a:schemeClr val="tx1"/>
                </a:solidFill>
                <a:latin typeface="Geologica Medium" pitchFamily="2" charset="0"/>
              </a:defRPr>
            </a:lvl3pPr>
            <a:lvl4pPr marL="12017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80000"/>
              <a:buFont typeface="Courier New" panose="02070309020205020404" pitchFamily="49" charset="0"/>
              <a:buChar char="o"/>
              <a:tabLst/>
              <a:defRPr sz="2000" b="0" i="0">
                <a:solidFill>
                  <a:schemeClr val="tx1"/>
                </a:solidFill>
                <a:latin typeface="Geologica Medium" pitchFamily="2" charset="0"/>
              </a:defRPr>
            </a:lvl4pPr>
            <a:lvl5pPr marL="1470025" indent="-2682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Geologica Medium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781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76770-223C-0A85-CEFE-EB859B596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40" y="271419"/>
            <a:ext cx="10403541" cy="64970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592E7-EC16-05A1-A28C-0D39CE2D15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363677"/>
            <a:ext cx="2743200" cy="365125"/>
          </a:xfrm>
        </p:spPr>
        <p:txBody>
          <a:bodyPr/>
          <a:lstStyle/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ound Diagonal Corner of Rectangle 4">
            <a:extLst>
              <a:ext uri="{FF2B5EF4-FFF2-40B4-BE49-F238E27FC236}">
                <a16:creationId xmlns:a16="http://schemas.microsoft.com/office/drawing/2014/main" id="{2B6E7267-6424-4B0E-A794-D7DBAE27FF42}"/>
              </a:ext>
            </a:extLst>
          </p:cNvPr>
          <p:cNvSpPr/>
          <p:nvPr userDrawn="1"/>
        </p:nvSpPr>
        <p:spPr>
          <a:xfrm>
            <a:off x="421341" y="1196788"/>
            <a:ext cx="11410103" cy="5042647"/>
          </a:xfrm>
          <a:prstGeom prst="round2DiagRect">
            <a:avLst>
              <a:gd name="adj1" fmla="val 13063"/>
              <a:gd name="adj2" fmla="val 0"/>
            </a:avLst>
          </a:prstGeom>
          <a:solidFill>
            <a:srgbClr val="CC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Geologica Light" pitchFamily="2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65BBF51-19CE-66B0-E241-71DBA4B2D9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8671" y="271463"/>
            <a:ext cx="1006756" cy="649287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4DFDA5D-351E-AC8F-7604-C30D1ED139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46683" y="1695459"/>
            <a:ext cx="5058129" cy="4288482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400" b="0" i="0">
                <a:solidFill>
                  <a:schemeClr val="tx1"/>
                </a:solidFill>
                <a:latin typeface="Geologica Medium" pitchFamily="2" charset="0"/>
              </a:defRPr>
            </a:lvl1pPr>
            <a:lvl2pPr marL="627063" indent="-3063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-"/>
              <a:tabLst/>
              <a:defRPr sz="2000" b="0" i="0">
                <a:solidFill>
                  <a:schemeClr val="tx1"/>
                </a:solidFill>
                <a:latin typeface="Geologica Medium" pitchFamily="2" charset="0"/>
              </a:defRPr>
            </a:lvl2pPr>
            <a:lvl3pPr marL="9350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‣"/>
              <a:tabLst/>
              <a:defRPr sz="2000" b="0" i="0">
                <a:solidFill>
                  <a:schemeClr val="tx1"/>
                </a:solidFill>
                <a:latin typeface="Geologica Medium" pitchFamily="2" charset="0"/>
              </a:defRPr>
            </a:lvl3pPr>
            <a:lvl4pPr marL="12017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80000"/>
              <a:buFont typeface="Courier New" panose="02070309020205020404" pitchFamily="49" charset="0"/>
              <a:buChar char="o"/>
              <a:tabLst/>
              <a:defRPr sz="2000" b="0" i="0">
                <a:solidFill>
                  <a:schemeClr val="tx1"/>
                </a:solidFill>
                <a:latin typeface="Geologica Medium" pitchFamily="2" charset="0"/>
              </a:defRPr>
            </a:lvl4pPr>
            <a:lvl5pPr marL="1470025" indent="-2682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Geologica Medium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2623148-8ACE-9CE3-4ECF-2B722BCD17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5471" y="1695459"/>
            <a:ext cx="5058129" cy="4288482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400" b="0" i="0">
                <a:solidFill>
                  <a:schemeClr val="tx1"/>
                </a:solidFill>
                <a:latin typeface="Geologica Medium" pitchFamily="2" charset="0"/>
              </a:defRPr>
            </a:lvl1pPr>
            <a:lvl2pPr marL="627063" indent="-3063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-"/>
              <a:tabLst/>
              <a:defRPr sz="2000" b="0" i="0">
                <a:solidFill>
                  <a:schemeClr val="tx1"/>
                </a:solidFill>
                <a:latin typeface="Geologica Medium" pitchFamily="2" charset="0"/>
              </a:defRPr>
            </a:lvl2pPr>
            <a:lvl3pPr marL="9350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‣"/>
              <a:tabLst/>
              <a:defRPr sz="2000" b="0" i="0">
                <a:solidFill>
                  <a:schemeClr val="tx1"/>
                </a:solidFill>
                <a:latin typeface="Geologica Medium" pitchFamily="2" charset="0"/>
              </a:defRPr>
            </a:lvl3pPr>
            <a:lvl4pPr marL="12017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80000"/>
              <a:buFont typeface="Courier New" panose="02070309020205020404" pitchFamily="49" charset="0"/>
              <a:buChar char="o"/>
              <a:tabLst/>
              <a:defRPr sz="2000" b="0" i="0">
                <a:solidFill>
                  <a:schemeClr val="tx1"/>
                </a:solidFill>
                <a:latin typeface="Geologica Medium" pitchFamily="2" charset="0"/>
              </a:defRPr>
            </a:lvl4pPr>
            <a:lvl5pPr marL="1470025" indent="-2682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Geologica Medium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8941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76770-223C-0A85-CEFE-EB859B596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41" y="271419"/>
            <a:ext cx="10403541" cy="64970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592E7-EC16-05A1-A28C-0D39CE2D15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363677"/>
            <a:ext cx="2743200" cy="365125"/>
          </a:xfrm>
        </p:spPr>
        <p:txBody>
          <a:bodyPr/>
          <a:lstStyle/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C7C2B76-8B00-B285-7EA8-603EB68B5B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8671" y="271463"/>
            <a:ext cx="1006756" cy="649287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BA4ED0-DFDC-876E-FEDE-B9FE83EF4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8" y="6078538"/>
            <a:ext cx="4138612" cy="650875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400" b="0" i="0">
                <a:solidFill>
                  <a:schemeClr val="tx1"/>
                </a:solidFill>
                <a:latin typeface="Geologica Light" pitchFamily="2" charset="0"/>
              </a:defRPr>
            </a:lvl1pPr>
            <a:lvl2pPr algn="l">
              <a:defRPr sz="1400" b="0" i="0">
                <a:solidFill>
                  <a:schemeClr val="tx1"/>
                </a:solidFill>
                <a:latin typeface="Geologica Light" pitchFamily="2" charset="0"/>
              </a:defRPr>
            </a:lvl2pPr>
            <a:lvl3pPr algn="l">
              <a:defRPr sz="1400" b="0" i="0">
                <a:solidFill>
                  <a:schemeClr val="tx1"/>
                </a:solidFill>
                <a:latin typeface="Geologica Light" pitchFamily="2" charset="0"/>
              </a:defRPr>
            </a:lvl3pPr>
            <a:lvl4pPr algn="l">
              <a:defRPr sz="1400" b="0" i="0">
                <a:solidFill>
                  <a:schemeClr val="tx1"/>
                </a:solidFill>
                <a:latin typeface="Geologica Light" pitchFamily="2" charset="0"/>
              </a:defRPr>
            </a:lvl4pPr>
            <a:lvl5pPr algn="l">
              <a:defRPr sz="1400" b="0" i="0">
                <a:solidFill>
                  <a:schemeClr val="tx1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2DBDB47D-8798-6F81-DE0A-8B7082DC7D15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420688" y="1065213"/>
            <a:ext cx="11464925" cy="50133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133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76770-223C-0A85-CEFE-EB859B596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41" y="271419"/>
            <a:ext cx="10403541" cy="64970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592E7-EC16-05A1-A28C-0D39CE2D15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363677"/>
            <a:ext cx="2743200" cy="365125"/>
          </a:xfrm>
        </p:spPr>
        <p:txBody>
          <a:bodyPr/>
          <a:lstStyle/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ound Diagonal Corner of Rectangle 4">
            <a:extLst>
              <a:ext uri="{FF2B5EF4-FFF2-40B4-BE49-F238E27FC236}">
                <a16:creationId xmlns:a16="http://schemas.microsoft.com/office/drawing/2014/main" id="{8851B2A1-99E5-9636-E1C3-BDAA65359207}"/>
              </a:ext>
            </a:extLst>
          </p:cNvPr>
          <p:cNvSpPr/>
          <p:nvPr userDrawn="1"/>
        </p:nvSpPr>
        <p:spPr>
          <a:xfrm>
            <a:off x="421341" y="1196788"/>
            <a:ext cx="11410103" cy="5042647"/>
          </a:xfrm>
          <a:prstGeom prst="round2DiagRect">
            <a:avLst>
              <a:gd name="adj1" fmla="val 13063"/>
              <a:gd name="adj2" fmla="val 0"/>
            </a:avLst>
          </a:prstGeom>
          <a:solidFill>
            <a:srgbClr val="CC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Geologica Light" pitchFamily="2" charset="0"/>
            </a:endParaRP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E597B67-FD90-D429-C4A9-0F02233641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8671" y="271463"/>
            <a:ext cx="1006756" cy="649287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2EC1DA2-6D33-DE7E-3485-BE130C0323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5471" y="1695459"/>
            <a:ext cx="5058129" cy="4288482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400" b="0" i="0">
                <a:solidFill>
                  <a:schemeClr val="tx1"/>
                </a:solidFill>
                <a:latin typeface="Geologica Medium" pitchFamily="2" charset="0"/>
              </a:defRPr>
            </a:lvl1pPr>
            <a:lvl2pPr marL="627063" indent="-3063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-"/>
              <a:tabLst/>
              <a:defRPr sz="2000" b="0" i="0">
                <a:solidFill>
                  <a:schemeClr val="tx1"/>
                </a:solidFill>
                <a:latin typeface="Geologica Medium" pitchFamily="2" charset="0"/>
              </a:defRPr>
            </a:lvl2pPr>
            <a:lvl3pPr marL="9350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‣"/>
              <a:tabLst/>
              <a:defRPr sz="2000" b="0" i="0">
                <a:solidFill>
                  <a:schemeClr val="tx1"/>
                </a:solidFill>
                <a:latin typeface="Geologica Medium" pitchFamily="2" charset="0"/>
              </a:defRPr>
            </a:lvl3pPr>
            <a:lvl4pPr marL="12017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80000"/>
              <a:buFont typeface="Courier New" panose="02070309020205020404" pitchFamily="49" charset="0"/>
              <a:buChar char="o"/>
              <a:tabLst/>
              <a:defRPr sz="2000" b="0" i="0">
                <a:solidFill>
                  <a:schemeClr val="tx1"/>
                </a:solidFill>
                <a:latin typeface="Geologica Medium" pitchFamily="2" charset="0"/>
              </a:defRPr>
            </a:lvl4pPr>
            <a:lvl5pPr marL="1470025" indent="-2682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Geologica Medium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4D7B54C2-1BFF-FD62-AEFD-12E84D2987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0310" y="1695459"/>
            <a:ext cx="5058129" cy="418090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Geologica Light" pitchFamily="2" charset="0"/>
              </a:defRPr>
            </a:lvl1pPr>
            <a:lvl2pPr marL="457200" indent="0" algn="l">
              <a:buNone/>
              <a:defRPr sz="1800" b="0" i="0">
                <a:solidFill>
                  <a:schemeClr val="tx1"/>
                </a:solidFill>
                <a:latin typeface="Geologica Light" pitchFamily="2" charset="0"/>
              </a:defRPr>
            </a:lvl2pPr>
            <a:lvl3pPr marL="914400" indent="0" algn="l">
              <a:buNone/>
              <a:defRPr sz="1800" b="0" i="0">
                <a:solidFill>
                  <a:schemeClr val="tx1"/>
                </a:solidFill>
                <a:latin typeface="Geologica Light" pitchFamily="2" charset="0"/>
              </a:defRPr>
            </a:lvl3pPr>
            <a:lvl4pPr marL="1371600" indent="0" algn="l">
              <a:buNone/>
              <a:defRPr sz="1800" b="0" i="0">
                <a:solidFill>
                  <a:schemeClr val="tx1"/>
                </a:solidFill>
                <a:latin typeface="Geologica Light" pitchFamily="2" charset="0"/>
              </a:defRPr>
            </a:lvl4pPr>
            <a:lvl5pPr marL="1828800" indent="0" algn="l">
              <a:buNone/>
              <a:defRPr sz="1800" b="0" i="0">
                <a:solidFill>
                  <a:schemeClr val="tx1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3185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lexia Valu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76770-223C-0A85-CEFE-EB859B596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41" y="271419"/>
            <a:ext cx="10403541" cy="64970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592E7-EC16-05A1-A28C-0D39CE2D15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363677"/>
            <a:ext cx="2743200" cy="365125"/>
          </a:xfrm>
        </p:spPr>
        <p:txBody>
          <a:bodyPr/>
          <a:lstStyle/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Round Diagonal Corner of Rectangle 9">
            <a:extLst>
              <a:ext uri="{FF2B5EF4-FFF2-40B4-BE49-F238E27FC236}">
                <a16:creationId xmlns:a16="http://schemas.microsoft.com/office/drawing/2014/main" id="{DD66B36F-6C92-00E3-05BE-42660274B2C6}"/>
              </a:ext>
            </a:extLst>
          </p:cNvPr>
          <p:cNvSpPr/>
          <p:nvPr userDrawn="1"/>
        </p:nvSpPr>
        <p:spPr>
          <a:xfrm>
            <a:off x="421341" y="1196788"/>
            <a:ext cx="2052000" cy="4931566"/>
          </a:xfrm>
          <a:prstGeom prst="round2DiagRect">
            <a:avLst>
              <a:gd name="adj1" fmla="val 13063"/>
              <a:gd name="adj2" fmla="val 0"/>
            </a:avLst>
          </a:prstGeom>
          <a:solidFill>
            <a:srgbClr val="CC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Geologica Light" pitchFamily="2" charset="0"/>
            </a:endParaRPr>
          </a:p>
        </p:txBody>
      </p:sp>
      <p:sp>
        <p:nvSpPr>
          <p:cNvPr id="20" name="Round Diagonal Corner of Rectangle 19">
            <a:extLst>
              <a:ext uri="{FF2B5EF4-FFF2-40B4-BE49-F238E27FC236}">
                <a16:creationId xmlns:a16="http://schemas.microsoft.com/office/drawing/2014/main" id="{77231EA6-7C30-93C9-78BF-AD11583A161E}"/>
              </a:ext>
            </a:extLst>
          </p:cNvPr>
          <p:cNvSpPr/>
          <p:nvPr userDrawn="1"/>
        </p:nvSpPr>
        <p:spPr>
          <a:xfrm>
            <a:off x="2758191" y="1196788"/>
            <a:ext cx="2052000" cy="4931566"/>
          </a:xfrm>
          <a:prstGeom prst="round2DiagRect">
            <a:avLst>
              <a:gd name="adj1" fmla="val 13063"/>
              <a:gd name="adj2" fmla="val 0"/>
            </a:avLst>
          </a:prstGeom>
          <a:solidFill>
            <a:srgbClr val="CC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Geologica Light" pitchFamily="2" charset="0"/>
            </a:endParaRPr>
          </a:p>
        </p:txBody>
      </p:sp>
      <p:sp>
        <p:nvSpPr>
          <p:cNvPr id="22" name="Round Diagonal Corner of Rectangle 21">
            <a:extLst>
              <a:ext uri="{FF2B5EF4-FFF2-40B4-BE49-F238E27FC236}">
                <a16:creationId xmlns:a16="http://schemas.microsoft.com/office/drawing/2014/main" id="{90371D48-B1EC-D10B-8B89-3B9C81BF0F4A}"/>
              </a:ext>
            </a:extLst>
          </p:cNvPr>
          <p:cNvSpPr/>
          <p:nvPr userDrawn="1"/>
        </p:nvSpPr>
        <p:spPr>
          <a:xfrm>
            <a:off x="5095041" y="1196788"/>
            <a:ext cx="2052000" cy="4931566"/>
          </a:xfrm>
          <a:prstGeom prst="round2DiagRect">
            <a:avLst>
              <a:gd name="adj1" fmla="val 13063"/>
              <a:gd name="adj2" fmla="val 0"/>
            </a:avLst>
          </a:prstGeom>
          <a:solidFill>
            <a:srgbClr val="CC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Geologica Light" pitchFamily="2" charset="0"/>
            </a:endParaRPr>
          </a:p>
        </p:txBody>
      </p:sp>
      <p:sp>
        <p:nvSpPr>
          <p:cNvPr id="24" name="Round Diagonal Corner of Rectangle 23">
            <a:extLst>
              <a:ext uri="{FF2B5EF4-FFF2-40B4-BE49-F238E27FC236}">
                <a16:creationId xmlns:a16="http://schemas.microsoft.com/office/drawing/2014/main" id="{25D4B20C-E5F6-644F-F33C-F2972C55E4C6}"/>
              </a:ext>
            </a:extLst>
          </p:cNvPr>
          <p:cNvSpPr/>
          <p:nvPr userDrawn="1"/>
        </p:nvSpPr>
        <p:spPr>
          <a:xfrm>
            <a:off x="7431891" y="1196788"/>
            <a:ext cx="2052000" cy="4931566"/>
          </a:xfrm>
          <a:prstGeom prst="round2DiagRect">
            <a:avLst>
              <a:gd name="adj1" fmla="val 13063"/>
              <a:gd name="adj2" fmla="val 0"/>
            </a:avLst>
          </a:prstGeom>
          <a:solidFill>
            <a:srgbClr val="CC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Geologica Light" pitchFamily="2" charset="0"/>
            </a:endParaRPr>
          </a:p>
        </p:txBody>
      </p:sp>
      <p:sp>
        <p:nvSpPr>
          <p:cNvPr id="26" name="Round Diagonal Corner of Rectangle 25">
            <a:extLst>
              <a:ext uri="{FF2B5EF4-FFF2-40B4-BE49-F238E27FC236}">
                <a16:creationId xmlns:a16="http://schemas.microsoft.com/office/drawing/2014/main" id="{94C950CE-7598-BE1C-41C4-D75784B2AA99}"/>
              </a:ext>
            </a:extLst>
          </p:cNvPr>
          <p:cNvSpPr/>
          <p:nvPr userDrawn="1"/>
        </p:nvSpPr>
        <p:spPr>
          <a:xfrm>
            <a:off x="9768741" y="1196788"/>
            <a:ext cx="2052000" cy="4931566"/>
          </a:xfrm>
          <a:prstGeom prst="round2DiagRect">
            <a:avLst>
              <a:gd name="adj1" fmla="val 13063"/>
              <a:gd name="adj2" fmla="val 0"/>
            </a:avLst>
          </a:prstGeom>
          <a:solidFill>
            <a:srgbClr val="CCD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Geologica Light" pitchFamily="2" charset="0"/>
            </a:endParaRP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9C596A8F-B2E7-3271-80D8-41B0C682D9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8671" y="271463"/>
            <a:ext cx="1006756" cy="649287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B7B3836-A7B9-B1AC-23B3-CE37D71035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1342" y="1196788"/>
            <a:ext cx="2052000" cy="194982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1pPr>
            <a:lvl2pPr marL="320675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2pPr>
            <a:lvl3pPr marL="668338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3pPr>
            <a:lvl4pPr marL="935038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80000"/>
              <a:buFont typeface="Courier New" panose="02070309020205020404" pitchFamily="49" charset="0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4pPr>
            <a:lvl5pPr marL="1201737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CF03EBD8-BB87-3F0C-4970-7BACBC6F5FB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47683" y="1196788"/>
            <a:ext cx="2052000" cy="194982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1pPr>
            <a:lvl2pPr marL="320675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2pPr>
            <a:lvl3pPr marL="668338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3pPr>
            <a:lvl4pPr marL="935038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80000"/>
              <a:buFont typeface="Courier New" panose="02070309020205020404" pitchFamily="49" charset="0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4pPr>
            <a:lvl5pPr marL="1201737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218CE66-72BF-A3E0-7D1F-62544A7ADF1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00918" y="1196788"/>
            <a:ext cx="2052000" cy="194982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1pPr>
            <a:lvl2pPr marL="320675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2pPr>
            <a:lvl3pPr marL="668338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3pPr>
            <a:lvl4pPr marL="935038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80000"/>
              <a:buFont typeface="Courier New" panose="02070309020205020404" pitchFamily="49" charset="0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4pPr>
            <a:lvl5pPr marL="1201737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E587824-E8AD-07ED-83BE-7E7ED0459D5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427259" y="1196788"/>
            <a:ext cx="2052000" cy="194982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1pPr>
            <a:lvl2pPr marL="320675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2pPr>
            <a:lvl3pPr marL="668338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3pPr>
            <a:lvl4pPr marL="935038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80000"/>
              <a:buFont typeface="Courier New" panose="02070309020205020404" pitchFamily="49" charset="0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4pPr>
            <a:lvl5pPr marL="1201737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8F581452-2780-87C8-83E3-B0211D0D335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67048" y="1196788"/>
            <a:ext cx="2052000" cy="194982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1pPr>
            <a:lvl2pPr marL="320675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2pPr>
            <a:lvl3pPr marL="668338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3pPr>
            <a:lvl4pPr marL="935038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80000"/>
              <a:buFont typeface="Courier New" panose="02070309020205020404" pitchFamily="49" charset="0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4pPr>
            <a:lvl5pPr marL="1201737" indent="0" algn="ctr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None/>
              <a:tabLst/>
              <a:defRPr sz="2100" b="0" i="0">
                <a:solidFill>
                  <a:srgbClr val="004B70"/>
                </a:solidFill>
                <a:latin typeface="Geologica Medium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24161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1D63-5C52-E88E-7BBD-0EC7B122F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B0EE85-1847-D9C9-6EFD-BF0FC1081E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363677"/>
            <a:ext cx="2743200" cy="365125"/>
          </a:xfrm>
        </p:spPr>
        <p:txBody>
          <a:bodyPr/>
          <a:lstStyle/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A9F67A2-1932-401B-D5A3-4360AD54FC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8671" y="271463"/>
            <a:ext cx="1006756" cy="649287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6734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out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B0EE85-1847-D9C9-6EFD-BF0FC1081E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363677"/>
            <a:ext cx="2743200" cy="365125"/>
          </a:xfrm>
        </p:spPr>
        <p:txBody>
          <a:bodyPr/>
          <a:lstStyle/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4887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34494-9AD3-1F2A-05EB-A1730B658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41" y="271419"/>
            <a:ext cx="10403541" cy="64970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7CEBD-A71E-9EAB-CF24-CC7D976CD6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363677"/>
            <a:ext cx="2743200" cy="365125"/>
          </a:xfrm>
        </p:spPr>
        <p:txBody>
          <a:bodyPr/>
          <a:lstStyle/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8C5338E-1AF8-BDCC-5CE0-135FC0F0A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78671" y="271463"/>
            <a:ext cx="1006756" cy="649287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31E78A8-9C9A-4202-9C9B-4FBEEBC762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1341" y="1349298"/>
            <a:ext cx="5522293" cy="4850780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400" b="0" i="0">
                <a:solidFill>
                  <a:schemeClr val="tx1"/>
                </a:solidFill>
                <a:latin typeface="Geologica Light" pitchFamily="2" charset="0"/>
              </a:defRPr>
            </a:lvl1pPr>
            <a:lvl2pPr marL="627063" indent="-3063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-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2pPr>
            <a:lvl3pPr marL="9350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‣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3pPr>
            <a:lvl4pPr marL="12017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80000"/>
              <a:buFont typeface="Courier New" panose="02070309020205020404" pitchFamily="49" charset="0"/>
              <a:buChar char="o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4pPr>
            <a:lvl5pPr marL="1470025" indent="-2682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C52E615-AC3D-6050-FE7C-26339BEF54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63134" y="1349298"/>
            <a:ext cx="5522293" cy="4850780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400" b="0" i="0">
                <a:solidFill>
                  <a:schemeClr val="tx1"/>
                </a:solidFill>
                <a:latin typeface="Geologica Light" pitchFamily="2" charset="0"/>
              </a:defRPr>
            </a:lvl1pPr>
            <a:lvl2pPr marL="627063" indent="-3063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-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2pPr>
            <a:lvl3pPr marL="9350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130000"/>
              <a:buFont typeface="System Font Regular"/>
              <a:buChar char="‣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3pPr>
            <a:lvl4pPr marL="1201738" indent="-266700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SzPct val="80000"/>
              <a:buFont typeface="Courier New" panose="02070309020205020404" pitchFamily="49" charset="0"/>
              <a:buChar char="o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4pPr>
            <a:lvl5pPr marL="1470025" indent="-268288" algn="l">
              <a:lnSpc>
                <a:spcPct val="110000"/>
              </a:lnSpc>
              <a:spcBef>
                <a:spcPts val="900"/>
              </a:spcBef>
              <a:buClr>
                <a:srgbClr val="004B70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16473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 Name &amp; Detail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0A53BCF-FBB7-BE0F-1421-0D845D67C5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189" y="5475245"/>
            <a:ext cx="388434" cy="38843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F409A8F-74CE-7BD4-C321-9117590C2E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34845" y="5929781"/>
            <a:ext cx="353122" cy="353122"/>
          </a:xfrm>
          <a:prstGeom prst="rect">
            <a:avLst/>
          </a:prstGeom>
        </p:spPr>
      </p:pic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D1972D89-4B08-FF1D-861A-73160457815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8080" y="5550927"/>
            <a:ext cx="6766560" cy="266452"/>
          </a:xfrm>
          <a:prstGeom prst="rect">
            <a:avLst/>
          </a:prstGeom>
          <a:ln>
            <a:noFill/>
          </a:ln>
        </p:spPr>
        <p:txBody>
          <a:bodyPr lIns="0" tIns="0" rIns="0" bIns="0" anchor="b"/>
          <a:lstStyle>
            <a:lvl1pPr marL="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1pPr>
            <a:lvl2pPr marL="4572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2pPr>
            <a:lvl3pPr marL="9144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3pPr>
            <a:lvl4pPr marL="13716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4pPr>
            <a:lvl5pPr marL="18288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EEF55EF-5A3A-3D7E-601E-0070B082868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148080" y="5997967"/>
            <a:ext cx="6766560" cy="266452"/>
          </a:xfrm>
          <a:prstGeom prst="rect">
            <a:avLst/>
          </a:prstGeom>
          <a:ln>
            <a:noFill/>
          </a:ln>
        </p:spPr>
        <p:txBody>
          <a:bodyPr lIns="0" tIns="0" rIns="0" bIns="0" anchor="b"/>
          <a:lstStyle>
            <a:lvl1pPr marL="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1pPr>
            <a:lvl2pPr marL="4572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2pPr>
            <a:lvl3pPr marL="9144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3pPr>
            <a:lvl4pPr marL="13716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4pPr>
            <a:lvl5pPr marL="18288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A9BC512-B3DA-FD04-8804-B95504CB19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07647" y="5572467"/>
            <a:ext cx="2883218" cy="691952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1400"/>
              </a:spcBef>
              <a:buClr>
                <a:srgbClr val="FFEB66"/>
              </a:buClr>
              <a:buFont typeface="+mj-lt"/>
              <a:buNone/>
              <a:defRPr sz="1800" b="0" i="0">
                <a:solidFill>
                  <a:schemeClr val="bg1"/>
                </a:solidFill>
                <a:latin typeface="Geologica Light" pitchFamily="2" charset="0"/>
              </a:defRPr>
            </a:lvl1pPr>
            <a:lvl2pPr marL="914400" indent="-4572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2pPr>
            <a:lvl3pPr marL="1371600" indent="-4572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3pPr>
            <a:lvl4pPr marL="1714500" indent="-3429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4pPr>
            <a:lvl5pPr marL="2171700" indent="-3429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216854-50EC-8087-8D15-FCB6DE0361E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760" y="4638592"/>
            <a:ext cx="7294880" cy="266452"/>
          </a:xfrm>
          <a:prstGeom prst="rect">
            <a:avLst/>
          </a:prstGeom>
          <a:ln>
            <a:noFill/>
          </a:ln>
        </p:spPr>
        <p:txBody>
          <a:bodyPr lIns="0" tIns="0" rIns="0" bIns="0" anchor="b"/>
          <a:lstStyle>
            <a:lvl1pPr marL="0" indent="0">
              <a:buNone/>
              <a:defRPr sz="1800" b="0" i="0">
                <a:solidFill>
                  <a:srgbClr val="004B70"/>
                </a:solidFill>
                <a:latin typeface="Geologica Medium" pitchFamily="2" charset="0"/>
              </a:defRPr>
            </a:lvl1pPr>
            <a:lvl2pPr marL="457200" indent="0">
              <a:buNone/>
              <a:defRPr sz="1800" b="0" i="0">
                <a:solidFill>
                  <a:srgbClr val="004B70"/>
                </a:solidFill>
                <a:latin typeface="Geologica Medium" pitchFamily="2" charset="0"/>
              </a:defRPr>
            </a:lvl2pPr>
            <a:lvl3pPr marL="914400" indent="0">
              <a:buNone/>
              <a:defRPr sz="1800" b="0" i="0">
                <a:solidFill>
                  <a:srgbClr val="004B70"/>
                </a:solidFill>
                <a:latin typeface="Geologica Medium" pitchFamily="2" charset="0"/>
              </a:defRPr>
            </a:lvl3pPr>
            <a:lvl4pPr marL="1371600" indent="0">
              <a:buNone/>
              <a:defRPr sz="1800" b="0" i="0">
                <a:solidFill>
                  <a:srgbClr val="004B70"/>
                </a:solidFill>
                <a:latin typeface="Geologica Medium" pitchFamily="2" charset="0"/>
              </a:defRPr>
            </a:lvl4pPr>
            <a:lvl5pPr marL="1828800" indent="0">
              <a:buNone/>
              <a:defRPr sz="1800" b="0" i="0">
                <a:solidFill>
                  <a:srgbClr val="004B70"/>
                </a:solidFill>
                <a:latin typeface="Geologica Medium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6B9BCE2-500A-1341-0DB1-722B9F67295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19760" y="5008852"/>
            <a:ext cx="7294880" cy="266452"/>
          </a:xfrm>
          <a:prstGeom prst="rect">
            <a:avLst/>
          </a:prstGeom>
          <a:ln>
            <a:noFill/>
          </a:ln>
        </p:spPr>
        <p:txBody>
          <a:bodyPr lIns="0" tIns="0" rIns="0" bIns="0" anchor="b"/>
          <a:lstStyle>
            <a:lvl1pPr marL="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1pPr>
            <a:lvl2pPr marL="4572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2pPr>
            <a:lvl3pPr marL="9144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3pPr>
            <a:lvl4pPr marL="13716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4pPr>
            <a:lvl5pPr marL="18288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1957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2575A80-F529-793E-7CA6-3EDB833665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189" y="5602319"/>
            <a:ext cx="261360" cy="261360"/>
          </a:xfrm>
          <a:prstGeom prst="rect">
            <a:avLst/>
          </a:prstGeom>
        </p:spPr>
      </p:pic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E1324304-5291-040E-EB1A-8E87E809E8B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8080" y="5550927"/>
            <a:ext cx="2569905" cy="266452"/>
          </a:xfrm>
          <a:prstGeom prst="rect">
            <a:avLst/>
          </a:prstGeom>
          <a:ln>
            <a:noFill/>
          </a:ln>
        </p:spPr>
        <p:txBody>
          <a:bodyPr lIns="0" tIns="0" rIns="0" bIns="0" anchor="b"/>
          <a:lstStyle>
            <a:lvl1pPr marL="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1pPr>
            <a:lvl2pPr marL="4572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2pPr>
            <a:lvl3pPr marL="9144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3pPr>
            <a:lvl4pPr marL="13716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4pPr>
            <a:lvl5pPr marL="1828800" indent="0" algn="l">
              <a:buNone/>
              <a:defRPr sz="1200" b="0" i="0">
                <a:solidFill>
                  <a:srgbClr val="004B70"/>
                </a:solidFill>
                <a:latin typeface="Geologica Light" pitchFamily="2" charset="0"/>
              </a:defRPr>
            </a:lvl5pPr>
          </a:lstStyle>
          <a:p>
            <a:pPr lvl="4"/>
            <a:endParaRPr lang="en-GB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BD0FDEDD-40C8-FA12-A37E-5C3641144CC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148080" y="5997967"/>
            <a:ext cx="2569905" cy="266452"/>
          </a:xfrm>
          <a:prstGeom prst="rect">
            <a:avLst/>
          </a:prstGeom>
          <a:ln>
            <a:noFill/>
          </a:ln>
        </p:spPr>
        <p:txBody>
          <a:bodyPr lIns="0" tIns="0" rIns="0" bIns="0" anchor="b"/>
          <a:lstStyle>
            <a:lvl1pPr marL="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1pPr>
            <a:lvl2pPr marL="4572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2pPr>
            <a:lvl3pPr marL="9144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3pPr>
            <a:lvl4pPr marL="1371600" indent="0"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4pPr>
            <a:lvl5pPr marL="1828800" indent="0" algn="l">
              <a:buNone/>
              <a:defRPr sz="1200" b="0" i="0">
                <a:solidFill>
                  <a:srgbClr val="004B70"/>
                </a:solidFill>
                <a:latin typeface="Geologica Light" pitchFamily="2" charset="0"/>
              </a:defRPr>
            </a:lvl5pPr>
          </a:lstStyle>
          <a:p>
            <a:pPr lvl="4"/>
            <a:endParaRPr lang="en-GB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81D2331-5D00-6F1E-FA4B-AD990D79C19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12720" y="4055992"/>
            <a:ext cx="6766560" cy="266452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1pPr>
            <a:lvl2pPr marL="457200" indent="0" algn="ctr">
              <a:lnSpc>
                <a:spcPct val="120000"/>
              </a:lnSpc>
              <a:spcBef>
                <a:spcPts val="600"/>
              </a:spcBef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2pPr>
            <a:lvl3pPr marL="914400" indent="0" algn="ctr">
              <a:lnSpc>
                <a:spcPct val="120000"/>
              </a:lnSpc>
              <a:spcBef>
                <a:spcPts val="600"/>
              </a:spcBef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3pPr>
            <a:lvl4pPr marL="1371600" indent="0" algn="ctr">
              <a:lnSpc>
                <a:spcPct val="120000"/>
              </a:lnSpc>
              <a:spcBef>
                <a:spcPts val="600"/>
              </a:spcBef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4pPr>
            <a:lvl5pPr marL="1828800" indent="0" algn="ctr">
              <a:lnSpc>
                <a:spcPct val="120000"/>
              </a:lnSpc>
              <a:spcBef>
                <a:spcPts val="600"/>
              </a:spcBef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2399B7D-D6FB-62A5-EA5B-9A5C46DA3C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907647" y="5572467"/>
            <a:ext cx="2883218" cy="691952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lnSpc>
                <a:spcPct val="100000"/>
              </a:lnSpc>
              <a:spcBef>
                <a:spcPts val="1400"/>
              </a:spcBef>
              <a:buClr>
                <a:srgbClr val="FFEB66"/>
              </a:buClr>
              <a:buFont typeface="+mj-lt"/>
              <a:buNone/>
              <a:defRPr sz="1200" b="0" i="0">
                <a:solidFill>
                  <a:schemeClr val="bg1"/>
                </a:solidFill>
                <a:latin typeface="Geologica Light" pitchFamily="2" charset="0"/>
              </a:defRPr>
            </a:lvl1pPr>
            <a:lvl2pPr marL="914400" indent="-4572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2pPr>
            <a:lvl3pPr marL="1371600" indent="-4572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3pPr>
            <a:lvl4pPr marL="1714500" indent="-3429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4pPr>
            <a:lvl5pPr marL="2171700" indent="-3429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5pPr>
          </a:lstStyle>
          <a:p>
            <a:pPr lvl="0"/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F81339-DB2D-5B53-3451-49FA842B57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84263" y="5989341"/>
            <a:ext cx="320164" cy="3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956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280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lide 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32C1FE-3523-661D-EB28-3EBC19B57C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7" y="1"/>
            <a:ext cx="12220944" cy="6876000"/>
          </a:xfrm>
          <a:prstGeom prst="rect">
            <a:avLst/>
          </a:prstGeom>
        </p:spPr>
      </p:pic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B30FD4FC-9E1C-1B0B-97C8-2DE860AC89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1518" y="4403617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Content Placeholder 17">
            <a:extLst>
              <a:ext uri="{FF2B5EF4-FFF2-40B4-BE49-F238E27FC236}">
                <a16:creationId xmlns:a16="http://schemas.microsoft.com/office/drawing/2014/main" id="{F4305A74-F2C2-95FA-B7F7-5B9B5BFBE88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81518" y="4768022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1800" b="0" i="0" kern="1200" dirty="0" smtClean="0">
                <a:solidFill>
                  <a:srgbClr val="FFEB66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A505A0EF-AD9B-8603-9E9F-050B72F99D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1517" y="2905780"/>
            <a:ext cx="6719047" cy="5232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400" b="0" i="0" kern="1200" dirty="0" smtClean="0">
                <a:solidFill>
                  <a:schemeClr val="bg1"/>
                </a:solidFill>
                <a:latin typeface="Geologica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FA6A02B-FC10-54DA-5072-0C6B8A1E05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388" y="503846"/>
            <a:ext cx="1790080" cy="385886"/>
          </a:xfrm>
          <a:prstGeom prst="rect">
            <a:avLst/>
          </a:prstGeom>
        </p:spPr>
      </p:pic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97BB419F-1B0A-D882-FD5B-30054572A80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9388" y="5856878"/>
            <a:ext cx="6180191" cy="2308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n-GB" sz="1500" b="0" i="0" kern="1200" dirty="0" smtClean="0">
                <a:solidFill>
                  <a:srgbClr val="6693A9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7CA76D8-8729-0AF5-EFED-EF8D64EF5E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388" y="6212050"/>
            <a:ext cx="101023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lang="en-GB" sz="1400" b="0" i="0" kern="1200" smtClean="0">
                <a:solidFill>
                  <a:srgbClr val="6693A9"/>
                </a:solidFill>
                <a:latin typeface="Geologica ExtraLight" pitchFamily="2" charset="0"/>
                <a:ea typeface="+mj-ea"/>
                <a:cs typeface="+mj-cs"/>
              </a:defRPr>
            </a:lvl1pPr>
          </a:lstStyle>
          <a:p>
            <a:fld id="{41E09AE8-D08C-5342-B620-44B450BC1F3B}" type="datetimeFigureOut">
              <a:rPr lang="en-BE" smtClean="0"/>
              <a:pPr/>
              <a:t>25/03/2026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971927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pening slide OFFER P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32C1FE-3523-661D-EB28-3EBC19B57C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" y="1"/>
            <a:ext cx="12223236" cy="6876000"/>
          </a:xfrm>
          <a:prstGeom prst="rect">
            <a:avLst/>
          </a:prstGeom>
        </p:spPr>
      </p:pic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B30FD4FC-9E1C-1B0B-97C8-2DE860AC89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1518" y="4591875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Content Placeholder 17">
            <a:extLst>
              <a:ext uri="{FF2B5EF4-FFF2-40B4-BE49-F238E27FC236}">
                <a16:creationId xmlns:a16="http://schemas.microsoft.com/office/drawing/2014/main" id="{F4305A74-F2C2-95FA-B7F7-5B9B5BFBE88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81518" y="4956280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1800" b="0" i="0" kern="1200" dirty="0" smtClean="0">
                <a:solidFill>
                  <a:srgbClr val="FFEB66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A505A0EF-AD9B-8603-9E9F-050B72F99D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1517" y="3309190"/>
            <a:ext cx="6719047" cy="523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400" b="0" i="0" kern="1200" dirty="0" smtClean="0">
                <a:solidFill>
                  <a:schemeClr val="bg1"/>
                </a:solidFill>
                <a:latin typeface="Geologica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FA6A02B-FC10-54DA-5072-0C6B8A1E05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388" y="503846"/>
            <a:ext cx="1790080" cy="385886"/>
          </a:xfrm>
          <a:prstGeom prst="rect">
            <a:avLst/>
          </a:prstGeom>
        </p:spPr>
      </p:pic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97BB419F-1B0A-D882-FD5B-30054572A80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9388" y="5856878"/>
            <a:ext cx="6180191" cy="2308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n-GB" sz="1500" b="0" i="0" kern="1200" dirty="0" smtClean="0">
                <a:solidFill>
                  <a:srgbClr val="6693A9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51AAE08-B9E9-3128-91AB-EC908C147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388" y="6212050"/>
            <a:ext cx="10116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lang="en-GB" sz="1400" b="0" i="0" kern="1200" smtClean="0">
                <a:solidFill>
                  <a:srgbClr val="6693A9"/>
                </a:solidFill>
                <a:latin typeface="Geologica ExtraLight" pitchFamily="2" charset="0"/>
                <a:ea typeface="+mj-ea"/>
                <a:cs typeface="+mj-cs"/>
              </a:defRPr>
            </a:lvl1pPr>
          </a:lstStyle>
          <a:p>
            <a:fld id="{41E09AE8-D08C-5342-B620-44B450BC1F3B}" type="datetimeFigureOut">
              <a:rPr lang="en-BE" smtClean="0"/>
              <a:pPr/>
              <a:t>25/03/2026</a:t>
            </a:fld>
            <a:endParaRPr lang="en-BE"/>
          </a:p>
        </p:txBody>
      </p:sp>
      <p:sp>
        <p:nvSpPr>
          <p:cNvPr id="4" name="Content Placeholder 17">
            <a:extLst>
              <a:ext uri="{FF2B5EF4-FFF2-40B4-BE49-F238E27FC236}">
                <a16:creationId xmlns:a16="http://schemas.microsoft.com/office/drawing/2014/main" id="{0F356423-C3B1-CA53-427E-E8ABD720C9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81518" y="3907410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1800" b="0" i="0" kern="1200" dirty="0" smtClean="0">
                <a:solidFill>
                  <a:schemeClr val="bg1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121230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lide OFFER PV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32C1FE-3523-661D-EB28-3EBC19B57C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" y="1"/>
            <a:ext cx="12223236" cy="687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F3B4E41-B1AB-5DBB-4FEE-B429AA4A37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388" y="503846"/>
            <a:ext cx="1790080" cy="385886"/>
          </a:xfrm>
          <a:prstGeom prst="rect">
            <a:avLst/>
          </a:prstGeom>
        </p:spPr>
      </p:pic>
      <p:sp>
        <p:nvSpPr>
          <p:cNvPr id="9" name="Content Placeholder 17">
            <a:extLst>
              <a:ext uri="{FF2B5EF4-FFF2-40B4-BE49-F238E27FC236}">
                <a16:creationId xmlns:a16="http://schemas.microsoft.com/office/drawing/2014/main" id="{33A28AFB-AC82-A88C-CD95-DF9D2F7171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9388" y="5865191"/>
            <a:ext cx="6180191" cy="2308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n-GB" sz="1500" b="0" i="0" kern="1200" dirty="0" smtClean="0">
                <a:solidFill>
                  <a:srgbClr val="6693A9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5471440-EE0D-BCDE-6BB2-987DD1859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388" y="6212050"/>
            <a:ext cx="10116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lang="en-GB" sz="1400" b="0" i="0" kern="1200" smtClean="0">
                <a:solidFill>
                  <a:srgbClr val="6693A9"/>
                </a:solidFill>
                <a:latin typeface="Geologica ExtraLight" pitchFamily="2" charset="0"/>
                <a:ea typeface="+mj-ea"/>
                <a:cs typeface="+mj-cs"/>
              </a:defRPr>
            </a:lvl1pPr>
          </a:lstStyle>
          <a:p>
            <a:fld id="{41E09AE8-D08C-5342-B620-44B450BC1F3B}" type="datetimeFigureOut">
              <a:rPr lang="en-BE" smtClean="0"/>
              <a:pPr/>
              <a:t>25/03/2026</a:t>
            </a:fld>
            <a:endParaRPr lang="en-BE"/>
          </a:p>
        </p:txBody>
      </p:sp>
      <p:sp>
        <p:nvSpPr>
          <p:cNvPr id="11" name="Content Placeholder 17">
            <a:extLst>
              <a:ext uri="{FF2B5EF4-FFF2-40B4-BE49-F238E27FC236}">
                <a16:creationId xmlns:a16="http://schemas.microsoft.com/office/drawing/2014/main" id="{537F2DC6-FA58-C492-C3E4-9AF7419F83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1518" y="4591875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17">
            <a:extLst>
              <a:ext uri="{FF2B5EF4-FFF2-40B4-BE49-F238E27FC236}">
                <a16:creationId xmlns:a16="http://schemas.microsoft.com/office/drawing/2014/main" id="{52154A69-0647-A319-5508-4AA9A4CC807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81518" y="4956280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1800" b="0" i="0" kern="1200" dirty="0" smtClean="0">
                <a:solidFill>
                  <a:srgbClr val="FFEB66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17">
            <a:extLst>
              <a:ext uri="{FF2B5EF4-FFF2-40B4-BE49-F238E27FC236}">
                <a16:creationId xmlns:a16="http://schemas.microsoft.com/office/drawing/2014/main" id="{2CFEF492-E24A-B6C4-1916-FC6764A066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1517" y="3309190"/>
            <a:ext cx="6719047" cy="523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400" b="0" i="0" kern="1200" dirty="0" smtClean="0">
                <a:solidFill>
                  <a:schemeClr val="bg1"/>
                </a:solidFill>
                <a:latin typeface="Geologica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Content Placeholder 17">
            <a:extLst>
              <a:ext uri="{FF2B5EF4-FFF2-40B4-BE49-F238E27FC236}">
                <a16:creationId xmlns:a16="http://schemas.microsoft.com/office/drawing/2014/main" id="{E49E4B1D-31DA-2FDB-D562-9CF5787830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81518" y="3907410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1800" b="0" i="0" kern="1200" dirty="0" smtClean="0">
                <a:solidFill>
                  <a:schemeClr val="bg1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7532414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lide 3 - En Opt &amp; 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32C1FE-3523-661D-EB28-3EBC19B57C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" y="1"/>
            <a:ext cx="12223236" cy="687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C2C9D53-0770-294D-8425-B8B2F9B7A2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388" y="503846"/>
            <a:ext cx="1790080" cy="385886"/>
          </a:xfrm>
          <a:prstGeom prst="rect">
            <a:avLst/>
          </a:prstGeom>
        </p:spPr>
      </p:pic>
      <p:sp>
        <p:nvSpPr>
          <p:cNvPr id="9" name="Content Placeholder 17">
            <a:extLst>
              <a:ext uri="{FF2B5EF4-FFF2-40B4-BE49-F238E27FC236}">
                <a16:creationId xmlns:a16="http://schemas.microsoft.com/office/drawing/2014/main" id="{E0437D79-7D87-62E9-EBB0-A28DF610CB2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9388" y="5856878"/>
            <a:ext cx="6180191" cy="2308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buNone/>
              <a:defRPr lang="en-GB" sz="1500" b="0" i="0" kern="1200" dirty="0" smtClean="0">
                <a:solidFill>
                  <a:srgbClr val="6693A9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7B22CD6-DC65-3A4C-9612-1D895F73EA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388" y="6212050"/>
            <a:ext cx="10116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lang="en-GB" sz="1400" b="0" i="0" kern="1200" smtClean="0">
                <a:solidFill>
                  <a:srgbClr val="6693A9"/>
                </a:solidFill>
                <a:latin typeface="Geologica ExtraLight" pitchFamily="2" charset="0"/>
                <a:ea typeface="+mj-ea"/>
                <a:cs typeface="+mj-cs"/>
              </a:defRPr>
            </a:lvl1pPr>
          </a:lstStyle>
          <a:p>
            <a:fld id="{41E09AE8-D08C-5342-B620-44B450BC1F3B}" type="datetimeFigureOut">
              <a:rPr lang="en-BE" smtClean="0"/>
              <a:pPr/>
              <a:t>25/03/2026</a:t>
            </a:fld>
            <a:endParaRPr lang="en-BE"/>
          </a:p>
        </p:txBody>
      </p:sp>
      <p:sp>
        <p:nvSpPr>
          <p:cNvPr id="11" name="Content Placeholder 17">
            <a:extLst>
              <a:ext uri="{FF2B5EF4-FFF2-40B4-BE49-F238E27FC236}">
                <a16:creationId xmlns:a16="http://schemas.microsoft.com/office/drawing/2014/main" id="{4F28EE7D-D419-3DC6-8563-30CBE65E53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1518" y="4591875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17">
            <a:extLst>
              <a:ext uri="{FF2B5EF4-FFF2-40B4-BE49-F238E27FC236}">
                <a16:creationId xmlns:a16="http://schemas.microsoft.com/office/drawing/2014/main" id="{DCD421DF-1BBE-37EC-26BF-BABDF4FA6D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81518" y="4956280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1800" b="0" i="0" kern="1200" dirty="0" smtClean="0">
                <a:solidFill>
                  <a:srgbClr val="FFEB66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17">
            <a:extLst>
              <a:ext uri="{FF2B5EF4-FFF2-40B4-BE49-F238E27FC236}">
                <a16:creationId xmlns:a16="http://schemas.microsoft.com/office/drawing/2014/main" id="{3BADDE0B-F59B-E6AD-DCFD-8831E0DD3B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1517" y="3309190"/>
            <a:ext cx="6719047" cy="523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400" b="0" i="0" kern="1200" dirty="0" smtClean="0">
                <a:solidFill>
                  <a:schemeClr val="bg1"/>
                </a:solidFill>
                <a:latin typeface="Geologica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Content Placeholder 17">
            <a:extLst>
              <a:ext uri="{FF2B5EF4-FFF2-40B4-BE49-F238E27FC236}">
                <a16:creationId xmlns:a16="http://schemas.microsoft.com/office/drawing/2014/main" id="{D93B1D2F-2A73-9E63-6067-A549D0E68AF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81518" y="3907410"/>
            <a:ext cx="5700712" cy="276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en-GB" sz="1800" b="0" i="0" kern="1200" dirty="0" smtClean="0">
                <a:solidFill>
                  <a:schemeClr val="bg1"/>
                </a:solidFill>
                <a:latin typeface="Geologica ExtraLight" pitchFamily="2" charset="0"/>
                <a:ea typeface="+mj-ea"/>
                <a:cs typeface="+mj-cs"/>
              </a:defRPr>
            </a:lvl1pPr>
            <a:lvl2pPr marL="4572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2pPr>
            <a:lvl3pPr marL="9144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3pPr>
            <a:lvl4pPr marL="1371600" indent="0">
              <a:buNone/>
              <a:defRPr lang="en-GB" sz="2000" b="0" i="0" kern="1200" dirty="0" smtClean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4pPr>
            <a:lvl5pPr marL="1828800" indent="0">
              <a:buNone/>
              <a:defRPr lang="en-GB" sz="2000" b="0" i="0" kern="1200" dirty="0">
                <a:solidFill>
                  <a:srgbClr val="FFEB66"/>
                </a:solidFill>
                <a:latin typeface="Geologica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71328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957415-AD66-6D12-5931-D8DAD32374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Geologica" pitchFamily="2" charset="0"/>
            </a:endParaRPr>
          </a:p>
        </p:txBody>
      </p:sp>
      <p:pic>
        <p:nvPicPr>
          <p:cNvPr id="8" name="Graphic 1">
            <a:extLst>
              <a:ext uri="{FF2B5EF4-FFF2-40B4-BE49-F238E27FC236}">
                <a16:creationId xmlns:a16="http://schemas.microsoft.com/office/drawing/2014/main" id="{81FCE973-BF10-50DE-9AF1-44382C87AF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922" y="503846"/>
            <a:ext cx="1781012" cy="385886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6470FD3-6ED3-C824-BDE7-CD105F399C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88887" y="2165396"/>
            <a:ext cx="8737253" cy="39022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rgbClr val="FFEB66"/>
              </a:buClr>
              <a:buFont typeface="+mj-lt"/>
              <a:buNone/>
              <a:defRPr sz="2400" b="0" i="0" spc="30" baseline="0">
                <a:solidFill>
                  <a:schemeClr val="bg1"/>
                </a:solidFill>
                <a:latin typeface="Geologica Light" pitchFamily="2" charset="0"/>
              </a:defRPr>
            </a:lvl1pPr>
            <a:lvl2pPr marL="457200" indent="0">
              <a:buClr>
                <a:srgbClr val="FFEB66"/>
              </a:buClr>
              <a:buFont typeface="+mj-lt"/>
              <a:buNone/>
              <a:defRPr sz="2400" b="0" i="0" spc="30" baseline="0">
                <a:solidFill>
                  <a:schemeClr val="bg1"/>
                </a:solidFill>
                <a:latin typeface="Geologica Light" pitchFamily="2" charset="0"/>
              </a:defRPr>
            </a:lvl2pPr>
            <a:lvl3pPr marL="914400" indent="0">
              <a:buClr>
                <a:srgbClr val="FFEB66"/>
              </a:buClr>
              <a:buFont typeface="+mj-lt"/>
              <a:buNone/>
              <a:defRPr sz="2400" b="0" i="0" spc="30" baseline="0">
                <a:solidFill>
                  <a:schemeClr val="bg1"/>
                </a:solidFill>
                <a:latin typeface="Geologica Light" pitchFamily="2" charset="0"/>
              </a:defRPr>
            </a:lvl3pPr>
            <a:lvl4pPr marL="1371600" indent="0">
              <a:buClr>
                <a:srgbClr val="FFEB66"/>
              </a:buClr>
              <a:buFont typeface="+mj-lt"/>
              <a:buNone/>
              <a:defRPr sz="2400" b="0" i="0" spc="30" baseline="0">
                <a:solidFill>
                  <a:schemeClr val="bg1"/>
                </a:solidFill>
                <a:latin typeface="Geologica Light" pitchFamily="2" charset="0"/>
              </a:defRPr>
            </a:lvl4pPr>
            <a:lvl5pPr marL="1828800" indent="0">
              <a:buClr>
                <a:srgbClr val="FFEB66"/>
              </a:buClr>
              <a:buFont typeface="+mj-lt"/>
              <a:buNone/>
              <a:defRPr sz="2400" b="0" i="0" spc="30" baseline="0">
                <a:solidFill>
                  <a:schemeClr val="bg1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B81F0C-D046-33D6-C94E-395A24D1AB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2065640"/>
            <a:ext cx="2538024" cy="468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rgbClr val="FFEB66"/>
              </a:buClr>
              <a:buFont typeface="+mj-lt"/>
              <a:buNone/>
              <a:defRPr sz="3200" b="0" i="0">
                <a:solidFill>
                  <a:schemeClr val="bg1"/>
                </a:solidFill>
                <a:latin typeface="Geologica Light" pitchFamily="2" charset="0"/>
              </a:defRPr>
            </a:lvl1pPr>
            <a:lvl2pPr marL="914400" indent="-4572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2pPr>
            <a:lvl3pPr marL="1371600" indent="-4572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3pPr>
            <a:lvl4pPr marL="1714500" indent="-3429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4pPr>
            <a:lvl5pPr marL="2171700" indent="-342900">
              <a:buClr>
                <a:srgbClr val="FFEB66"/>
              </a:buClr>
              <a:buFont typeface="+mj-lt"/>
              <a:buAutoNum type="arabicPeriod"/>
              <a:defRPr b="0" i="0">
                <a:solidFill>
                  <a:schemeClr val="bg1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15DB5F4-2020-8FAF-3061-F1DC499992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2904472"/>
            <a:ext cx="1479550" cy="1479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Geologica ExtraLight" pitchFamily="2" charset="0"/>
              </a:defRPr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191144-67FD-9BC6-EA3A-50F7F5520D27}"/>
              </a:ext>
            </a:extLst>
          </p:cNvPr>
          <p:cNvSpPr txBox="1"/>
          <p:nvPr userDrawn="1"/>
        </p:nvSpPr>
        <p:spPr>
          <a:xfrm>
            <a:off x="7483599" y="6183192"/>
            <a:ext cx="415514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600" b="0" i="0" err="1">
                <a:solidFill>
                  <a:schemeClr val="bg1"/>
                </a:solidFill>
                <a:latin typeface="Geologica" pitchFamily="2" charset="0"/>
              </a:rPr>
              <a:t>helexia.group</a:t>
            </a:r>
            <a:endParaRPr lang="en-GB" sz="1600" b="0" i="0">
              <a:solidFill>
                <a:schemeClr val="bg1"/>
              </a:solidFill>
              <a:latin typeface="Geolog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6284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TO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CB07E3-8F42-56E9-5541-F2030880B6B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DF1A9-6134-D93A-8252-8E39937AC1C9}"/>
              </a:ext>
            </a:extLst>
          </p:cNvPr>
          <p:cNvSpPr txBox="1"/>
          <p:nvPr userDrawn="1"/>
        </p:nvSpPr>
        <p:spPr>
          <a:xfrm>
            <a:off x="7483599" y="6348289"/>
            <a:ext cx="415514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600" b="0" i="0" err="1">
                <a:solidFill>
                  <a:schemeClr val="bg1"/>
                </a:solidFill>
                <a:latin typeface="Geologica" pitchFamily="2" charset="0"/>
              </a:rPr>
              <a:t>helexia.group</a:t>
            </a:r>
            <a:endParaRPr lang="en-GB" sz="1600" b="0" i="0">
              <a:solidFill>
                <a:schemeClr val="bg1"/>
              </a:solidFill>
              <a:latin typeface="Geologica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ABEC12D-24E6-7CEA-8C99-AE0587F74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54" y="2057327"/>
            <a:ext cx="2844396" cy="1325563"/>
          </a:xfrm>
        </p:spPr>
        <p:txBody>
          <a:bodyPr/>
          <a:lstStyle>
            <a:lvl1pPr>
              <a:defRPr sz="2800" b="0" i="0">
                <a:solidFill>
                  <a:schemeClr val="bg1"/>
                </a:solidFill>
                <a:latin typeface="Geologica Light" pitchFamily="2" charset="0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F1B5834F-6C82-888C-BC2B-B869A8697A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288837"/>
            <a:ext cx="2743200" cy="365125"/>
          </a:xfrm>
        </p:spPr>
        <p:txBody>
          <a:bodyPr/>
          <a:lstStyle>
            <a:lvl1pPr algn="ctr">
              <a:defRPr b="0" i="0">
                <a:solidFill>
                  <a:schemeClr val="accent1"/>
                </a:solidFill>
                <a:latin typeface="Geologica" pitchFamily="2" charset="0"/>
              </a:defRPr>
            </a:lvl1pPr>
          </a:lstStyle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1E05FD4-F92C-13AD-6710-DE7E3CCA64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48318" y="2065640"/>
            <a:ext cx="8292820" cy="3902231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rgbClr val="FFEB66"/>
              </a:buClr>
              <a:buFont typeface="+mj-lt"/>
              <a:buAutoNum type="arabicPeriod"/>
              <a:defRPr sz="2000" b="0" i="0">
                <a:solidFill>
                  <a:schemeClr val="bg1"/>
                </a:solidFill>
                <a:latin typeface="Geologica Light" pitchFamily="2" charset="0"/>
              </a:defRPr>
            </a:lvl1pPr>
            <a:lvl2pPr marL="914400" indent="-457200">
              <a:buClr>
                <a:srgbClr val="FFEB66"/>
              </a:buClr>
              <a:buFont typeface="+mj-lt"/>
              <a:buAutoNum type="arabicPeriod"/>
              <a:defRPr sz="2000" b="0" i="0">
                <a:solidFill>
                  <a:schemeClr val="bg1"/>
                </a:solidFill>
                <a:latin typeface="Geologica Light" pitchFamily="2" charset="0"/>
              </a:defRPr>
            </a:lvl2pPr>
            <a:lvl3pPr marL="1371600" indent="-457200">
              <a:buClr>
                <a:srgbClr val="FFEB66"/>
              </a:buClr>
              <a:buFont typeface="+mj-lt"/>
              <a:buAutoNum type="arabicPeriod"/>
              <a:defRPr sz="2000" b="0" i="0">
                <a:solidFill>
                  <a:schemeClr val="bg1"/>
                </a:solidFill>
                <a:latin typeface="Geologica Light" pitchFamily="2" charset="0"/>
              </a:defRPr>
            </a:lvl3pPr>
            <a:lvl4pPr marL="1714500" indent="-342900">
              <a:buClr>
                <a:srgbClr val="FFEB66"/>
              </a:buClr>
              <a:buFont typeface="+mj-lt"/>
              <a:buAutoNum type="arabicPeriod"/>
              <a:defRPr sz="2000" b="0" i="0">
                <a:solidFill>
                  <a:schemeClr val="bg1"/>
                </a:solidFill>
                <a:latin typeface="Geologica Light" pitchFamily="2" charset="0"/>
              </a:defRPr>
            </a:lvl4pPr>
            <a:lvl5pPr marL="2171700" indent="-342900">
              <a:buClr>
                <a:srgbClr val="FFEB66"/>
              </a:buClr>
              <a:buFont typeface="+mj-lt"/>
              <a:buAutoNum type="arabicPeriod"/>
              <a:defRPr sz="2000" b="0" i="0">
                <a:solidFill>
                  <a:schemeClr val="bg1"/>
                </a:solidFill>
                <a:latin typeface="Geologica Light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4447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blu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F999E0-9C88-055A-A7F9-FD01522997E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7D2AD7D0-ED7F-3B1E-D225-5E001AB43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4482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0" i="0">
                <a:solidFill>
                  <a:srgbClr val="6693A9"/>
                </a:solidFill>
                <a:latin typeface="Geologica Light" pitchFamily="2" charset="0"/>
              </a:defRPr>
            </a:lvl1pPr>
          </a:lstStyle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C07E7C-9B89-6210-60E8-5F84BC61A115}"/>
              </a:ext>
            </a:extLst>
          </p:cNvPr>
          <p:cNvSpPr txBox="1"/>
          <p:nvPr userDrawn="1"/>
        </p:nvSpPr>
        <p:spPr>
          <a:xfrm>
            <a:off x="7483599" y="6183192"/>
            <a:ext cx="415514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600" b="0" i="0" err="1">
                <a:solidFill>
                  <a:schemeClr val="bg1"/>
                </a:solidFill>
                <a:latin typeface="Geologica" pitchFamily="2" charset="0"/>
              </a:rPr>
              <a:t>helexia.group</a:t>
            </a:r>
            <a:endParaRPr lang="en-GB" sz="1600" b="0" i="0">
              <a:solidFill>
                <a:schemeClr val="bg1"/>
              </a:solidFill>
              <a:latin typeface="Geolog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72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9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1521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C47F30-FBA3-A230-E3C8-BA758B747AC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B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Geologica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E015852-941B-8A58-5A74-01D8833A2D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922" y="503846"/>
            <a:ext cx="1781012" cy="385886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8CD565A-A04B-F4E4-6F2C-F5C39D174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2888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0" i="0">
                <a:solidFill>
                  <a:srgbClr val="CCDBE2"/>
                </a:solidFill>
                <a:latin typeface="Geologica Light" pitchFamily="2" charset="0"/>
              </a:defRPr>
            </a:lvl1pPr>
          </a:lstStyle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29B2F762-C4A9-C9A6-69E6-FA6A7A2A0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23" y="2548302"/>
            <a:ext cx="11134818" cy="13255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2ADEA8-180D-7DEE-DB8E-9F18691DF5A4}"/>
              </a:ext>
            </a:extLst>
          </p:cNvPr>
          <p:cNvSpPr txBox="1"/>
          <p:nvPr userDrawn="1"/>
        </p:nvSpPr>
        <p:spPr>
          <a:xfrm>
            <a:off x="7483599" y="6348289"/>
            <a:ext cx="415514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600" b="0" i="0" err="1">
                <a:solidFill>
                  <a:schemeClr val="bg1"/>
                </a:solidFill>
                <a:latin typeface="Geologica" pitchFamily="2" charset="0"/>
              </a:rPr>
              <a:t>helexia.group</a:t>
            </a:r>
            <a:endParaRPr lang="en-GB" sz="1600" b="0" i="0">
              <a:solidFill>
                <a:schemeClr val="bg1"/>
              </a:solidFill>
              <a:latin typeface="Geolog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554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3200" b="0" i="0" kern="1200" dirty="0">
          <a:solidFill>
            <a:schemeClr val="bg1"/>
          </a:solidFill>
          <a:latin typeface="Geologica Light" pitchFamily="2" charset="0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143427CB-4C67-6247-0C1B-77D00F29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23" y="2557303"/>
            <a:ext cx="11134818" cy="13255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5D9CCCC-8069-2B46-2B96-E5EF1CE56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944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0" i="0">
                <a:solidFill>
                  <a:srgbClr val="CCDBE2"/>
                </a:solidFill>
                <a:latin typeface="Geologica Light" pitchFamily="2" charset="0"/>
              </a:defRPr>
            </a:lvl1pPr>
          </a:lstStyle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864EA6-B43A-061D-BD93-A8BB96E02FAA}"/>
              </a:ext>
            </a:extLst>
          </p:cNvPr>
          <p:cNvSpPr txBox="1"/>
          <p:nvPr userDrawn="1"/>
        </p:nvSpPr>
        <p:spPr>
          <a:xfrm>
            <a:off x="7483599" y="6183192"/>
            <a:ext cx="415514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600" b="0" i="0" err="1">
                <a:solidFill>
                  <a:schemeClr val="bg1"/>
                </a:solidFill>
                <a:latin typeface="Geologica" pitchFamily="2" charset="0"/>
              </a:rPr>
              <a:t>helexia.group</a:t>
            </a:r>
            <a:endParaRPr lang="en-GB" sz="1600" b="0" i="0">
              <a:solidFill>
                <a:schemeClr val="bg1"/>
              </a:solidFill>
              <a:latin typeface="Geologica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27D7B5-B12F-EB84-C897-91F54286AFC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tx2"/>
              </a:gs>
              <a:gs pos="77000">
                <a:srgbClr val="30937B"/>
              </a:gs>
              <a:gs pos="100000">
                <a:schemeClr val="accent3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Geolog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327B16-2E00-722C-EA45-D82982B42BBB}"/>
              </a:ext>
            </a:extLst>
          </p:cNvPr>
          <p:cNvSpPr txBox="1"/>
          <p:nvPr userDrawn="1"/>
        </p:nvSpPr>
        <p:spPr>
          <a:xfrm>
            <a:off x="7635999" y="6335592"/>
            <a:ext cx="415514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600" b="0" i="0" err="1">
                <a:solidFill>
                  <a:schemeClr val="bg1"/>
                </a:solidFill>
                <a:latin typeface="Geologica" pitchFamily="2" charset="0"/>
              </a:rPr>
              <a:t>helexia.group</a:t>
            </a:r>
            <a:endParaRPr lang="en-GB" sz="1600" b="0" i="0">
              <a:solidFill>
                <a:schemeClr val="bg1"/>
              </a:solidFill>
              <a:latin typeface="Geolog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061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bg1"/>
          </a:solidFill>
          <a:latin typeface="Geologica Light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47CD75-CB55-B0B3-0A45-F956BF9D8342}"/>
              </a:ext>
            </a:extLst>
          </p:cNvPr>
          <p:cNvSpPr/>
          <p:nvPr userDrawn="1"/>
        </p:nvSpPr>
        <p:spPr>
          <a:xfrm>
            <a:off x="421341" y="921124"/>
            <a:ext cx="11404800" cy="54000"/>
          </a:xfrm>
          <a:prstGeom prst="rect">
            <a:avLst/>
          </a:prstGeom>
          <a:gradFill flip="none" rotWithShape="1">
            <a:gsLst>
              <a:gs pos="0">
                <a:srgbClr val="004B70"/>
              </a:gs>
              <a:gs pos="60000">
                <a:srgbClr val="30937B"/>
              </a:gs>
              <a:gs pos="100000">
                <a:srgbClr val="C6DA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Geologica Light" pitchFamily="2" charset="0"/>
            </a:endParaRP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633A254E-6F3B-6C9A-8B43-D33B1D97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40" y="271419"/>
            <a:ext cx="10402807" cy="64970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/>
              <a:t>Click to edit Master title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C0DC58BE-2131-A95E-1E75-41D75F4B0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5201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0" i="0">
                <a:solidFill>
                  <a:srgbClr val="6693A9"/>
                </a:solidFill>
                <a:latin typeface="Geologica Light" pitchFamily="2" charset="0"/>
              </a:defRPr>
            </a:lvl1pPr>
          </a:lstStyle>
          <a:p>
            <a:fld id="{9965FCA5-9991-BF47-A595-7F719C31D99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061ED2-DBDD-0364-358A-46DF9A3C2F74}"/>
              </a:ext>
            </a:extLst>
          </p:cNvPr>
          <p:cNvSpPr txBox="1"/>
          <p:nvPr userDrawn="1"/>
        </p:nvSpPr>
        <p:spPr>
          <a:xfrm>
            <a:off x="9546553" y="6411471"/>
            <a:ext cx="227958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600" b="0" i="0" err="1">
                <a:solidFill>
                  <a:schemeClr val="tx2"/>
                </a:solidFill>
                <a:latin typeface="Geologica" pitchFamily="2" charset="0"/>
              </a:rPr>
              <a:t>helexia.group</a:t>
            </a:r>
            <a:endParaRPr lang="en-GB" sz="1600" b="0" i="0">
              <a:solidFill>
                <a:schemeClr val="tx2"/>
              </a:solidFill>
              <a:latin typeface="Geolog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313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2"/>
          </a:solidFill>
          <a:latin typeface="Geologica" pitchFamily="2" charset="0"/>
          <a:ea typeface="+mj-ea"/>
          <a:cs typeface="+mj-cs"/>
        </a:defRPr>
      </a:lvl1pPr>
    </p:titleStyle>
    <p:bodyStyle>
      <a:lvl1pPr marL="0" indent="0" algn="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rgbClr val="6693A9"/>
          </a:solidFill>
          <a:latin typeface="Geologica Medium" pitchFamily="2" charset="0"/>
          <a:ea typeface="+mn-ea"/>
          <a:cs typeface="+mn-cs"/>
        </a:defRPr>
      </a:lvl1pPr>
      <a:lvl2pPr marL="457200" indent="0" algn="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rgbClr val="6693A9"/>
          </a:solidFill>
          <a:latin typeface="Geologica Medium" pitchFamily="2" charset="0"/>
          <a:ea typeface="+mn-ea"/>
          <a:cs typeface="+mn-cs"/>
        </a:defRPr>
      </a:lvl2pPr>
      <a:lvl3pPr marL="914400" indent="0" algn="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rgbClr val="6693A9"/>
          </a:solidFill>
          <a:latin typeface="Geologica Medium" pitchFamily="2" charset="0"/>
          <a:ea typeface="+mn-ea"/>
          <a:cs typeface="+mn-cs"/>
        </a:defRPr>
      </a:lvl3pPr>
      <a:lvl4pPr marL="1371600" indent="0" algn="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rgbClr val="6693A9"/>
          </a:solidFill>
          <a:latin typeface="Geologica Medium" pitchFamily="2" charset="0"/>
          <a:ea typeface="+mn-ea"/>
          <a:cs typeface="+mn-cs"/>
        </a:defRPr>
      </a:lvl4pPr>
      <a:lvl5pPr marL="1828800" indent="0" algn="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rgbClr val="6693A9"/>
          </a:solidFill>
          <a:latin typeface="Geologica Medium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12D33D-F248-B10B-4B7E-2FF8FB7DCE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3" y="0"/>
            <a:ext cx="12189332" cy="685821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F0C98F7-16E0-F75A-5E7B-70769D3CAA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5572" y="3146512"/>
            <a:ext cx="2620857" cy="56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37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1521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0973"/>
            <a:ext cx="12191695" cy="684702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" y="384048"/>
            <a:ext cx="169164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81428" y="2651760"/>
            <a:ext cx="671901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Proposta Comercial GD Solar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2281428" y="3364992"/>
            <a:ext cx="671901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EB66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CS3 Cassilândia × Copasul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81428" y="3977640"/>
            <a:ext cx="671901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DBE2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Rateio Fixo | 18 UCs | Energisa MS | Jun/2026–Mai/2028 · Mai/2031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99262" y="5856732"/>
            <a:ext cx="3657600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692A8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Março / 2026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9144000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CDBE2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helexia.group</a:t>
            </a:r>
            <a:endParaRPr lang="en-US" sz="1200" dirty="0">
              <a:latin typeface="Geolog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628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538" y="271577"/>
            <a:ext cx="9875520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4B70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Agenda</a:t>
            </a:r>
            <a:endParaRPr lang="en-US" sz="2800" dirty="0">
              <a:latin typeface="Geologica" pitchFamily="2" charset="0"/>
            </a:endParaRPr>
          </a:p>
        </p:txBody>
      </p:sp>
      <p:sp>
        <p:nvSpPr>
          <p:cNvPr id="998" name="GradLine"/>
          <p:cNvSpPr>
            <a:spLocks noGrp="1"/>
          </p:cNvSpPr>
          <p:nvPr/>
        </p:nvSpPr>
        <p:spPr>
          <a:xfrm>
            <a:off x="421538" y="920801"/>
            <a:ext cx="11404397" cy="53950"/>
          </a:xfrm>
          <a:prstGeom prst="rect">
            <a:avLst/>
          </a:prstGeom>
          <a:gradFill flip="none" rotWithShape="1">
            <a:gsLst>
              <a:gs pos="0">
                <a:srgbClr val="004B70"/>
              </a:gs>
              <a:gs pos="60000">
                <a:srgbClr val="30937B"/>
              </a:gs>
              <a:gs pos="100000">
                <a:srgbClr val="C6DA38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639105" y="636331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601200" y="6291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92A8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helexia.group</a:t>
            </a:r>
            <a:endParaRPr lang="en-US" sz="1200" dirty="0">
              <a:latin typeface="Geologica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20624" y="1106424"/>
            <a:ext cx="438912" cy="438912"/>
          </a:xfrm>
          <a:prstGeom prst="ellipse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20624" y="1106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1069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Contexto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32588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O que Copasul paga hoje — baseline SEM Helexia com desconto Plin 20%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0624" y="1673352"/>
            <a:ext cx="11338560" cy="0"/>
          </a:xfrm>
          <a:prstGeom prst="line">
            <a:avLst/>
          </a:prstGeom>
          <a:noFill/>
          <a:ln w="635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20624" y="1783080"/>
            <a:ext cx="438912" cy="438912"/>
          </a:xfrm>
          <a:prstGeom prst="ellipse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20624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05840" y="1746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A Solução Helexia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" y="200253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CS3 Cassilândia + ativação do rateio BAT → NHS / AMD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20624" y="2350008"/>
            <a:ext cx="11338560" cy="0"/>
          </a:xfrm>
          <a:prstGeom prst="line">
            <a:avLst/>
          </a:prstGeom>
          <a:noFill/>
          <a:ln w="635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20624" y="2459736"/>
            <a:ext cx="438912" cy="438912"/>
          </a:xfrm>
          <a:prstGeom prst="ellipse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20624" y="2459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03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5840" y="2423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Resultados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05840" y="26791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Economia líquida, banco de créditos e valor total — cenários 24 e 60 meses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20624" y="3026664"/>
            <a:ext cx="11338560" cy="0"/>
          </a:xfrm>
          <a:prstGeom prst="line">
            <a:avLst/>
          </a:prstGeom>
          <a:noFill/>
          <a:ln w="635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420624" y="3136392"/>
            <a:ext cx="438912" cy="438912"/>
          </a:xfrm>
          <a:prstGeom prst="ellipse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420624" y="3136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04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05840" y="3099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Como Funciona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05840" y="33558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Rateio Fixo, 4 períodos, 18 UCs — otimizado matematicamente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20624" y="3703320"/>
            <a:ext cx="11338560" cy="0"/>
          </a:xfrm>
          <a:prstGeom prst="line">
            <a:avLst/>
          </a:prstGeom>
          <a:noFill/>
          <a:ln w="635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420624" y="3813048"/>
            <a:ext cx="438912" cy="438912"/>
          </a:xfrm>
          <a:prstGeom prst="ellipse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420624" y="3813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05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05840" y="3776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Análise Mensal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05840" y="403250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Custo SEM vs COM Helexia mês a mês + economia acumulada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20624" y="4379976"/>
            <a:ext cx="11338560" cy="0"/>
          </a:xfrm>
          <a:prstGeom prst="line">
            <a:avLst/>
          </a:prstGeom>
          <a:noFill/>
          <a:ln w="635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420624" y="4489704"/>
            <a:ext cx="438912" cy="438912"/>
          </a:xfrm>
          <a:prstGeom prst="ellipse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420624" y="4489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06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005840" y="4453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Premissas-Chave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05840" y="470916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Tarifas, PPA, usina, período e parâmetros do modelo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20624" y="5056632"/>
            <a:ext cx="11338560" cy="0"/>
          </a:xfrm>
          <a:prstGeom prst="line">
            <a:avLst/>
          </a:prstGeom>
          <a:noFill/>
          <a:ln w="635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4"/>
          <p:cNvSpPr/>
          <p:nvPr/>
        </p:nvSpPr>
        <p:spPr>
          <a:xfrm>
            <a:off x="420624" y="5166360"/>
            <a:ext cx="438912" cy="438912"/>
          </a:xfrm>
          <a:prstGeom prst="ellipse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420624" y="5166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07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1005840" y="5129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Próximos Passos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005840" y="538581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Estrutura contratual e cronograma de assinatura</a:t>
            </a:r>
            <a:endParaRPr lang="en-US" sz="9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8AD6621-4D6E-83E8-9BED-F6116D683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11" y="6292789"/>
            <a:ext cx="1030504" cy="22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47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537" y="271577"/>
            <a:ext cx="10579837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800" b="0" dirty="0">
                <a:solidFill>
                  <a:srgbClr val="004B70"/>
                </a:solidFill>
              </a:rPr>
              <a:t>R$ 866k de valor gerado para Copasul — 24 meses</a:t>
            </a:r>
          </a:p>
        </p:txBody>
      </p:sp>
      <p:sp>
        <p:nvSpPr>
          <p:cNvPr id="5" name="Text 2"/>
          <p:cNvSpPr/>
          <p:nvPr/>
        </p:nvSpPr>
        <p:spPr>
          <a:xfrm>
            <a:off x="5639105" y="636331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601200" y="6291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92A8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helexia.group</a:t>
            </a:r>
            <a:endParaRPr lang="en-US" sz="1200" dirty="0">
              <a:latin typeface="Geologica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20624" y="1216533"/>
            <a:ext cx="2212848" cy="1234440"/>
          </a:xfrm>
          <a:prstGeom prst="rect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75488" y="1307973"/>
            <a:ext cx="210312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3.375 MWh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93776" y="1858442"/>
            <a:ext cx="206654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Geração Injetada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93776" y="2204085"/>
            <a:ext cx="206654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CS3 Cassilândia P50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697480" y="1216533"/>
            <a:ext cx="2212848" cy="1234440"/>
          </a:xfrm>
          <a:prstGeom prst="rect">
            <a:avLst/>
          </a:prstGeom>
          <a:solidFill>
            <a:srgbClr val="2F927B"/>
          </a:solidFill>
          <a:ln w="12700">
            <a:solidFill>
              <a:srgbClr val="2F92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2752344" y="1307973"/>
            <a:ext cx="210312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R$ 436.480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70632" y="1858442"/>
            <a:ext cx="206654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★ Economia Líquida 24m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70632" y="2204085"/>
            <a:ext cx="206654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vs baseline c/ Plin 20%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974336" y="1216533"/>
            <a:ext cx="2212848" cy="1234440"/>
          </a:xfrm>
          <a:prstGeom prst="rect">
            <a:avLst/>
          </a:prstGeom>
          <a:solidFill>
            <a:srgbClr val="6692A8"/>
          </a:solidFill>
          <a:ln w="12700">
            <a:solidFill>
              <a:srgbClr val="6692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029200" y="1307973"/>
            <a:ext cx="210312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21,6%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047488" y="1858442"/>
            <a:ext cx="206654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Redução de Custo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47488" y="2204085"/>
            <a:ext cx="206654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vs SEM Helexia c/ desconto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251192" y="1216533"/>
            <a:ext cx="2212848" cy="123444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7306056" y="1307973"/>
            <a:ext cx="210312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R$ 599.704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324344" y="1858442"/>
            <a:ext cx="206654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Banco Residual Mai/28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324344" y="2204085"/>
            <a:ext cx="206654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créditos @ PPA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9528048" y="1216533"/>
            <a:ext cx="2212848" cy="1234440"/>
          </a:xfrm>
          <a:prstGeom prst="rect">
            <a:avLst/>
          </a:prstGeom>
          <a:solidFill>
            <a:srgbClr val="C5DA37"/>
          </a:solidFill>
          <a:ln w="12700">
            <a:solidFill>
              <a:srgbClr val="C5DA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9582912" y="1307973"/>
            <a:ext cx="210312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R$ 865.824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601200" y="1858442"/>
            <a:ext cx="206654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★ VALOR TOTAL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601200" y="2204085"/>
            <a:ext cx="206654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eco + banco residual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20624" y="2531898"/>
            <a:ext cx="11347704" cy="331927"/>
          </a:xfrm>
          <a:prstGeom prst="rect">
            <a:avLst/>
          </a:prstGeom>
          <a:solidFill>
            <a:srgbClr val="FFF9E6"/>
          </a:solidFill>
          <a:ln w="6350">
            <a:solidFill>
              <a:srgbClr val="C659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512064" y="2509007"/>
            <a:ext cx="11155680" cy="376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5911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⚠  Nota: baseline SEM Helexia usa tarifa B3 com desconto de 20% (cenário Plin Energia ativa). Sem o desconto Plin, a economia seria R$ 670.878 (29,8%). O desconto de 20% reduz o custo evitado e portanto a economia aparente.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20624" y="2983230"/>
            <a:ext cx="11347704" cy="2830069"/>
          </a:xfrm>
          <a:prstGeom prst="rect">
            <a:avLst/>
          </a:prstGeom>
          <a:solidFill>
            <a:srgbClr val="F5F8FA"/>
          </a:solidFill>
          <a:ln w="635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548640" y="302895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Decomposição de Custo — 24 meses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20624" y="3367278"/>
            <a:ext cx="11347704" cy="333757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530352" y="337642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Custo SEM Helexia — com desconto Plin 20% Grupo B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355080" y="337642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R$ 2.019.349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430768" y="337642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100,0%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9692640" y="337642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R$ 84.139/mês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20624" y="3719322"/>
            <a:ext cx="11347704" cy="333757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530352" y="372846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  Rede remanescente COM Helexia (R$)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355080" y="372846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   89.293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430768" y="372846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 4,3%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692640" y="372846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 3.602/mês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20624" y="4071366"/>
            <a:ext cx="11347704" cy="333757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9"/>
          <p:cNvSpPr/>
          <p:nvPr/>
        </p:nvSpPr>
        <p:spPr>
          <a:xfrm>
            <a:off x="530352" y="408051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  + PPA pago à Helexia (R$)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355080" y="408051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R$ 1.493.576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8430768" y="408051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74,1%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9692640" y="408051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R$ 62.232/mês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20624" y="4423410"/>
            <a:ext cx="11347704" cy="333757"/>
          </a:xfrm>
          <a:prstGeom prst="rect">
            <a:avLst/>
          </a:prstGeom>
          <a:solidFill>
            <a:srgbClr val="CCDBE2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4"/>
          <p:cNvSpPr/>
          <p:nvPr/>
        </p:nvSpPr>
        <p:spPr>
          <a:xfrm>
            <a:off x="530352" y="443255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Custo total COM Helexia (rede + PPA)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6355080" y="443255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R$ 1.582.869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8430768" y="443255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78,4%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9692640" y="443255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R$ 65.834/mês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20624" y="4775454"/>
            <a:ext cx="11347704" cy="333757"/>
          </a:xfrm>
          <a:prstGeom prst="rect">
            <a:avLst/>
          </a:prstGeom>
          <a:solidFill>
            <a:srgbClr val="D4EDDA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49"/>
          <p:cNvSpPr/>
          <p:nvPr/>
        </p:nvSpPr>
        <p:spPr>
          <a:xfrm>
            <a:off x="530352" y="478459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★  Economia Líquida (rede evitada − PPA)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355080" y="478459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  436.480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8430768" y="478459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21,6%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9692640" y="478459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R$ 18.187/mês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420624" y="5127498"/>
            <a:ext cx="11347704" cy="333757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4"/>
          <p:cNvSpPr/>
          <p:nvPr/>
        </p:nvSpPr>
        <p:spPr>
          <a:xfrm>
            <a:off x="530352" y="513664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  + Banco residual Mai/28 @ PPA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6355080" y="513664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  599.704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8430768" y="513664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29,7%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9692640" y="513664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—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420624" y="5479542"/>
            <a:ext cx="11347704" cy="333757"/>
          </a:xfrm>
          <a:prstGeom prst="rect">
            <a:avLst/>
          </a:prstGeom>
          <a:solidFill>
            <a:srgbClr val="DFF0D0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59"/>
          <p:cNvSpPr/>
          <p:nvPr/>
        </p:nvSpPr>
        <p:spPr>
          <a:xfrm>
            <a:off x="530352" y="548868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★  VALOR TOTAL HELEXIA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6355080" y="548868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  865.824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8430768" y="548868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42,9%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9692640" y="548868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—</a:t>
            </a:r>
            <a:endParaRPr lang="en-US" sz="800" dirty="0"/>
          </a:p>
        </p:txBody>
      </p:sp>
      <p:sp>
        <p:nvSpPr>
          <p:cNvPr id="3" name="GradLine">
            <a:extLst>
              <a:ext uri="{FF2B5EF4-FFF2-40B4-BE49-F238E27FC236}">
                <a16:creationId xmlns:a16="http://schemas.microsoft.com/office/drawing/2014/main" id="{07FB3D75-8350-2B7F-CD5E-72297BBE302C}"/>
              </a:ext>
            </a:extLst>
          </p:cNvPr>
          <p:cNvSpPr>
            <a:spLocks noGrp="1"/>
          </p:cNvSpPr>
          <p:nvPr/>
        </p:nvSpPr>
        <p:spPr>
          <a:xfrm>
            <a:off x="421538" y="920801"/>
            <a:ext cx="11404397" cy="53950"/>
          </a:xfrm>
          <a:prstGeom prst="rect">
            <a:avLst/>
          </a:prstGeom>
          <a:gradFill flip="none" rotWithShape="1">
            <a:gsLst>
              <a:gs pos="0">
                <a:srgbClr val="004B70"/>
              </a:gs>
              <a:gs pos="60000">
                <a:srgbClr val="30937B"/>
              </a:gs>
              <a:gs pos="100000">
                <a:srgbClr val="C6DA38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PlinComparison"/>
          <p:cNvSpPr>
            <a:spLocks noGrp="1"/>
          </p:cNvSpPr>
          <p:nvPr/>
        </p:nvSpPr>
        <p:spPr>
          <a:xfrm>
            <a:off x="420624" y="5868756"/>
            <a:ext cx="11360160" cy="357530"/>
          </a:xfrm>
          <a:prstGeom prst="rect">
            <a:avLst/>
          </a:prstGeom>
          <a:solidFill>
            <a:srgbClr val="E8F4FD"/>
          </a:solidFill>
          <a:ln w="9525">
            <a:solidFill>
              <a:srgbClr val="2F927B"/>
            </a:solidFill>
          </a:ln>
        </p:spPr>
        <p:txBody>
          <a:bodyPr lIns="91440" tIns="45720" rIns="91440" bIns="45720" anchor="ctr"/>
          <a:lstStyle/>
          <a:p>
            <a:pPr algn="l"/>
            <a:r>
              <a:rPr lang="pt-BR" sz="800" b="1" dirty="0">
                <a:solidFill>
                  <a:srgbClr val="004B70"/>
                </a:solidFill>
              </a:rPr>
              <a:t>💡 Plin Energia oferece 20% de desconto na tarifa — sem banco residual. </a:t>
            </a:r>
            <a:r>
              <a:rPr lang="pt-BR" sz="800" b="0" dirty="0">
                <a:solidFill>
                  <a:srgbClr val="565E73"/>
                </a:solidFill>
              </a:rPr>
              <a:t>Helexia entrega economia equivalente + R$ 600k de créditos residuais que Copasul mantém após o contrato.</a:t>
            </a:r>
          </a:p>
        </p:txBody>
      </p:sp>
      <p:pic>
        <p:nvPicPr>
          <p:cNvPr id="896" name="Image 0" descr="preencoded.png">
            <a:extLst>
              <a:ext uri="{FF2B5EF4-FFF2-40B4-BE49-F238E27FC236}">
                <a16:creationId xmlns:a16="http://schemas.microsoft.com/office/drawing/2014/main" id="{AC0EE399-5A6B-3C14-E363-164C52705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11" y="6292789"/>
            <a:ext cx="1030504" cy="22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765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537" y="271577"/>
            <a:ext cx="10579837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800" b="0" dirty="0">
                <a:solidFill>
                  <a:srgbClr val="004B70"/>
                </a:solidFill>
              </a:rPr>
              <a:t>R$ 2.297k de valor gerado para Copasul — 60 meses</a:t>
            </a:r>
          </a:p>
        </p:txBody>
      </p:sp>
      <p:sp>
        <p:nvSpPr>
          <p:cNvPr id="5" name="Text 2"/>
          <p:cNvSpPr/>
          <p:nvPr/>
        </p:nvSpPr>
        <p:spPr>
          <a:xfrm>
            <a:off x="5639105" y="6065855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601200" y="6291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92A8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helexia.group</a:t>
            </a:r>
            <a:endParaRPr lang="en-US" sz="1200" dirty="0">
              <a:latin typeface="Geologica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20624" y="1216533"/>
            <a:ext cx="2212848" cy="1234440"/>
          </a:xfrm>
          <a:prstGeom prst="rect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75488" y="1307973"/>
            <a:ext cx="210312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8.380 MWh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93776" y="1858442"/>
            <a:ext cx="206654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Geração Injetada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93776" y="2204085"/>
            <a:ext cx="206654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CS3 Cassilândia P50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697480" y="1216533"/>
            <a:ext cx="2212848" cy="1234440"/>
          </a:xfrm>
          <a:prstGeom prst="rect">
            <a:avLst/>
          </a:prstGeom>
          <a:solidFill>
            <a:srgbClr val="2F927B"/>
          </a:solidFill>
          <a:ln w="12700">
            <a:solidFill>
              <a:srgbClr val="2F92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2752344" y="1307973"/>
            <a:ext cx="210312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R$ 1.930.957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70632" y="1858442"/>
            <a:ext cx="206654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★ Economia Líquida 60m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70632" y="2204085"/>
            <a:ext cx="206654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vs baseline c/ Plin 20%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974336" y="1216533"/>
            <a:ext cx="2212848" cy="1234440"/>
          </a:xfrm>
          <a:prstGeom prst="rect">
            <a:avLst/>
          </a:prstGeom>
          <a:solidFill>
            <a:srgbClr val="6692A8"/>
          </a:solidFill>
          <a:ln w="12700">
            <a:solidFill>
              <a:srgbClr val="6692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029200" y="1307973"/>
            <a:ext cx="210312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31,6%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047488" y="1858442"/>
            <a:ext cx="206654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Redução de Custo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47488" y="2204085"/>
            <a:ext cx="206654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vs SEM Helexia c/ desconto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251192" y="1216533"/>
            <a:ext cx="2212848" cy="123444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7306056" y="1307973"/>
            <a:ext cx="210312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R$ 396.995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324344" y="1858442"/>
            <a:ext cx="206654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Banco Residual Mai/31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324344" y="2204085"/>
            <a:ext cx="206654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créditos @ PPA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9528048" y="1216533"/>
            <a:ext cx="2212848" cy="1234440"/>
          </a:xfrm>
          <a:prstGeom prst="rect">
            <a:avLst/>
          </a:prstGeom>
          <a:solidFill>
            <a:srgbClr val="C5DA37"/>
          </a:solidFill>
          <a:ln w="12700">
            <a:solidFill>
              <a:srgbClr val="C5DA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9582912" y="1307973"/>
            <a:ext cx="210312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R$ 2.296.874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601200" y="1858442"/>
            <a:ext cx="206654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★ VALOR TOTAL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601200" y="2204085"/>
            <a:ext cx="206654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eco + banco residual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420624" y="2685775"/>
            <a:ext cx="11347704" cy="2830069"/>
          </a:xfrm>
          <a:prstGeom prst="rect">
            <a:avLst/>
          </a:prstGeom>
          <a:solidFill>
            <a:srgbClr val="F5F8FA"/>
          </a:solidFill>
          <a:ln w="635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548640" y="2731495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Decomposição de Custo — 60 meses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20624" y="3069823"/>
            <a:ext cx="11347704" cy="333757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530352" y="3078967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Custo SEM Helexia — com desconto Plin 20% Grupo B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355080" y="3078967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R$ 6.111.913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430768" y="3078967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100,0%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9692640" y="3078967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R$ 101.865/mês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20624" y="3421867"/>
            <a:ext cx="11347704" cy="333757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530352" y="3431011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  Rede remanescente COM Helexia (R$)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355080" y="3431011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  472.611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430768" y="3431011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7,7%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692640" y="3431011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R$ 7.877/mês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20624" y="3773911"/>
            <a:ext cx="11347704" cy="333757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9"/>
          <p:cNvSpPr/>
          <p:nvPr/>
        </p:nvSpPr>
        <p:spPr>
          <a:xfrm>
            <a:off x="530352" y="3783055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  + PPA pago à Helexia (R$)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355080" y="3783055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R$ 1.493.576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8430768" y="3783055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60,7%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9692640" y="3783055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R$ 61.806/mês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20624" y="4125955"/>
            <a:ext cx="11347704" cy="333757"/>
          </a:xfrm>
          <a:prstGeom prst="rect">
            <a:avLst/>
          </a:prstGeom>
          <a:solidFill>
            <a:srgbClr val="CCDBE2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4"/>
          <p:cNvSpPr/>
          <p:nvPr/>
        </p:nvSpPr>
        <p:spPr>
          <a:xfrm>
            <a:off x="530352" y="4135099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Custo total COM Helexia (rede + PPA)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6355080" y="4135099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R$ 4.180.957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8430768" y="4135099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68,4%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9692640" y="4135099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R$ 69.683/mês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20624" y="4477999"/>
            <a:ext cx="11347704" cy="333757"/>
          </a:xfrm>
          <a:prstGeom prst="rect">
            <a:avLst/>
          </a:prstGeom>
          <a:solidFill>
            <a:srgbClr val="D4EDDA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49"/>
          <p:cNvSpPr/>
          <p:nvPr/>
        </p:nvSpPr>
        <p:spPr>
          <a:xfrm>
            <a:off x="530352" y="4487143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★  Economia Líquida (rede evitada − PPA)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355080" y="4487143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R$ 1.930.957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8430768" y="4487143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31,6%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9692640" y="4487143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R$ 32.183/mês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420624" y="4830043"/>
            <a:ext cx="11347704" cy="333757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4"/>
          <p:cNvSpPr/>
          <p:nvPr/>
        </p:nvSpPr>
        <p:spPr>
          <a:xfrm>
            <a:off x="530352" y="4839187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  + Banco residual Mai/31 @ PPA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6355080" y="4839187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  396.995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8430768" y="4839187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6,5%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9692640" y="4839187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—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420624" y="5182087"/>
            <a:ext cx="11347704" cy="333757"/>
          </a:xfrm>
          <a:prstGeom prst="rect">
            <a:avLst/>
          </a:prstGeom>
          <a:solidFill>
            <a:srgbClr val="DFF0D0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59"/>
          <p:cNvSpPr/>
          <p:nvPr/>
        </p:nvSpPr>
        <p:spPr>
          <a:xfrm>
            <a:off x="530352" y="5191231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★  VALOR TOTAL HELEXIA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6355080" y="5191231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R$ 2.296.874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8430768" y="5191231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37,6%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9692640" y="5191231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—</a:t>
            </a:r>
            <a:endParaRPr lang="en-US" sz="800" dirty="0"/>
          </a:p>
        </p:txBody>
      </p:sp>
      <p:sp>
        <p:nvSpPr>
          <p:cNvPr id="3" name="GradLine">
            <a:extLst>
              <a:ext uri="{FF2B5EF4-FFF2-40B4-BE49-F238E27FC236}">
                <a16:creationId xmlns:a16="http://schemas.microsoft.com/office/drawing/2014/main" id="{07FB3D75-8350-2B7F-CD5E-72297BBE302C}"/>
              </a:ext>
            </a:extLst>
          </p:cNvPr>
          <p:cNvSpPr>
            <a:spLocks noGrp="1"/>
          </p:cNvSpPr>
          <p:nvPr/>
        </p:nvSpPr>
        <p:spPr>
          <a:xfrm>
            <a:off x="421538" y="920801"/>
            <a:ext cx="11404397" cy="53950"/>
          </a:xfrm>
          <a:prstGeom prst="rect">
            <a:avLst/>
          </a:prstGeom>
          <a:gradFill flip="none" rotWithShape="1">
            <a:gsLst>
              <a:gs pos="0">
                <a:srgbClr val="004B70"/>
              </a:gs>
              <a:gs pos="60000">
                <a:srgbClr val="30937B"/>
              </a:gs>
              <a:gs pos="100000">
                <a:srgbClr val="C6DA38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896" name="Image 0" descr="preencoded.png">
            <a:extLst>
              <a:ext uri="{FF2B5EF4-FFF2-40B4-BE49-F238E27FC236}">
                <a16:creationId xmlns:a16="http://schemas.microsoft.com/office/drawing/2014/main" id="{AC0EE399-5A6B-3C14-E363-164C52705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11" y="6292789"/>
            <a:ext cx="1030504" cy="22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765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E3E70-4264-E731-36B2-1A60A72CE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B274B6-97DF-25BD-A602-7F3220BB1B36}"/>
              </a:ext>
            </a:extLst>
          </p:cNvPr>
          <p:cNvSpPr/>
          <p:nvPr/>
        </p:nvSpPr>
        <p:spPr>
          <a:xfrm>
            <a:off x="421537" y="271577"/>
            <a:ext cx="10579837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800" b="0" dirty="0">
                <a:solidFill>
                  <a:srgbClr val="004B70"/>
                </a:solidFill>
              </a:rPr>
              <a:t>R$ 5.753k de valor gerado para Copasul — 120 meses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9E50E9D-DFD6-1972-4AF0-1749D8E12D6A}"/>
              </a:ext>
            </a:extLst>
          </p:cNvPr>
          <p:cNvSpPr/>
          <p:nvPr/>
        </p:nvSpPr>
        <p:spPr>
          <a:xfrm>
            <a:off x="5639105" y="6065855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5</a:t>
            </a:r>
            <a:endParaRPr lang="en-US" sz="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EC0336F-2538-D0A1-C0FB-4F1B61EF557E}"/>
              </a:ext>
            </a:extLst>
          </p:cNvPr>
          <p:cNvSpPr/>
          <p:nvPr/>
        </p:nvSpPr>
        <p:spPr>
          <a:xfrm>
            <a:off x="9601200" y="6291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92A8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helexia.group</a:t>
            </a:r>
            <a:endParaRPr lang="en-US" sz="1200" dirty="0">
              <a:latin typeface="Geologica" pitchFamily="2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76E62EB-AC48-952A-E614-3755418A736A}"/>
              </a:ext>
            </a:extLst>
          </p:cNvPr>
          <p:cNvSpPr/>
          <p:nvPr/>
        </p:nvSpPr>
        <p:spPr>
          <a:xfrm>
            <a:off x="420624" y="1216533"/>
            <a:ext cx="2212848" cy="1234440"/>
          </a:xfrm>
          <a:prstGeom prst="rect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61BB09F-1776-F361-AE0D-691E3273FBFE}"/>
              </a:ext>
            </a:extLst>
          </p:cNvPr>
          <p:cNvSpPr/>
          <p:nvPr/>
        </p:nvSpPr>
        <p:spPr>
          <a:xfrm>
            <a:off x="475488" y="1307973"/>
            <a:ext cx="210312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16.557 MWh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3416908-D660-9377-7E9A-888825D0E166}"/>
              </a:ext>
            </a:extLst>
          </p:cNvPr>
          <p:cNvSpPr/>
          <p:nvPr/>
        </p:nvSpPr>
        <p:spPr>
          <a:xfrm>
            <a:off x="493776" y="1858442"/>
            <a:ext cx="206654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Geração Injetada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0CE3F7D-11E7-FDE8-8552-3FB9210DBBFA}"/>
              </a:ext>
            </a:extLst>
          </p:cNvPr>
          <p:cNvSpPr/>
          <p:nvPr/>
        </p:nvSpPr>
        <p:spPr>
          <a:xfrm>
            <a:off x="493776" y="2204085"/>
            <a:ext cx="206654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CS3 Cassilândia P50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9B47E5B-6A55-C9C4-9383-BC62079063F6}"/>
              </a:ext>
            </a:extLst>
          </p:cNvPr>
          <p:cNvSpPr/>
          <p:nvPr/>
        </p:nvSpPr>
        <p:spPr>
          <a:xfrm>
            <a:off x="2697480" y="1216533"/>
            <a:ext cx="2212848" cy="1234440"/>
          </a:xfrm>
          <a:prstGeom prst="rect">
            <a:avLst/>
          </a:prstGeom>
          <a:solidFill>
            <a:srgbClr val="2F927B"/>
          </a:solidFill>
          <a:ln w="12700">
            <a:solidFill>
              <a:srgbClr val="2F92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432BCA9-630A-2465-88A8-178654323433}"/>
              </a:ext>
            </a:extLst>
          </p:cNvPr>
          <p:cNvSpPr/>
          <p:nvPr/>
        </p:nvSpPr>
        <p:spPr>
          <a:xfrm>
            <a:off x="2752344" y="1307973"/>
            <a:ext cx="210312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R$ 5.687.990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84591FB-75E7-6334-EAE0-E3C5A95A8926}"/>
              </a:ext>
            </a:extLst>
          </p:cNvPr>
          <p:cNvSpPr/>
          <p:nvPr/>
        </p:nvSpPr>
        <p:spPr>
          <a:xfrm>
            <a:off x="2770632" y="1858442"/>
            <a:ext cx="206654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★ Economia Líquida 120m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A1DC2E1-642E-3DE3-6AFD-EC9EC3627774}"/>
              </a:ext>
            </a:extLst>
          </p:cNvPr>
          <p:cNvSpPr/>
          <p:nvPr/>
        </p:nvSpPr>
        <p:spPr>
          <a:xfrm>
            <a:off x="2770632" y="2204085"/>
            <a:ext cx="206654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vs baseline c/ Plin 20%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22E9D70E-A932-12C5-FD67-334E7F39F18A}"/>
              </a:ext>
            </a:extLst>
          </p:cNvPr>
          <p:cNvSpPr/>
          <p:nvPr/>
        </p:nvSpPr>
        <p:spPr>
          <a:xfrm>
            <a:off x="4974336" y="1216533"/>
            <a:ext cx="2212848" cy="1234440"/>
          </a:xfrm>
          <a:prstGeom prst="rect">
            <a:avLst/>
          </a:prstGeom>
          <a:solidFill>
            <a:srgbClr val="6692A8"/>
          </a:solidFill>
          <a:ln w="12700">
            <a:solidFill>
              <a:srgbClr val="6692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F36A9B5-C898-F3B7-FD6E-923D87C98DEB}"/>
              </a:ext>
            </a:extLst>
          </p:cNvPr>
          <p:cNvSpPr/>
          <p:nvPr/>
        </p:nvSpPr>
        <p:spPr>
          <a:xfrm>
            <a:off x="5029200" y="1307973"/>
            <a:ext cx="210312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29,5%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E408BA0-F255-6EF2-5969-AFC9D3FF7E9C}"/>
              </a:ext>
            </a:extLst>
          </p:cNvPr>
          <p:cNvSpPr/>
          <p:nvPr/>
        </p:nvSpPr>
        <p:spPr>
          <a:xfrm>
            <a:off x="5047488" y="1858442"/>
            <a:ext cx="206654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Redução de Custo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2720F62-FCA4-44B1-D39D-86B255E6FA16}"/>
              </a:ext>
            </a:extLst>
          </p:cNvPr>
          <p:cNvSpPr/>
          <p:nvPr/>
        </p:nvSpPr>
        <p:spPr>
          <a:xfrm>
            <a:off x="5047488" y="2204085"/>
            <a:ext cx="206654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FFFF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% redução custo Copasul</a:t>
            </a: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3464451-5B44-F867-3C3F-149F13890E15}"/>
              </a:ext>
            </a:extLst>
          </p:cNvPr>
          <p:cNvSpPr/>
          <p:nvPr/>
        </p:nvSpPr>
        <p:spPr>
          <a:xfrm>
            <a:off x="7251192" y="1216533"/>
            <a:ext cx="2212848" cy="123444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BAD60D6-FBB3-48DF-6CD9-B819558E2D26}"/>
              </a:ext>
            </a:extLst>
          </p:cNvPr>
          <p:cNvSpPr/>
          <p:nvPr/>
        </p:nvSpPr>
        <p:spPr>
          <a:xfrm>
            <a:off x="7306056" y="1307973"/>
            <a:ext cx="210312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R$ 64.744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AFB342D0-0C4A-C930-42B5-460B3F70D006}"/>
              </a:ext>
            </a:extLst>
          </p:cNvPr>
          <p:cNvSpPr/>
          <p:nvPr/>
        </p:nvSpPr>
        <p:spPr>
          <a:xfrm>
            <a:off x="7324344" y="1858442"/>
            <a:ext cx="206654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Banco Residual Mai/36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E6975CE-BCC2-0142-10C9-2D509BCBB226}"/>
              </a:ext>
            </a:extLst>
          </p:cNvPr>
          <p:cNvSpPr/>
          <p:nvPr/>
        </p:nvSpPr>
        <p:spPr>
          <a:xfrm>
            <a:off x="7324344" y="2204085"/>
            <a:ext cx="206654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banco total @ PPA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4E13410A-6374-146A-E81D-5ABE14E2D3CE}"/>
              </a:ext>
            </a:extLst>
          </p:cNvPr>
          <p:cNvSpPr/>
          <p:nvPr/>
        </p:nvSpPr>
        <p:spPr>
          <a:xfrm>
            <a:off x="9528048" y="1216533"/>
            <a:ext cx="2212848" cy="1234440"/>
          </a:xfrm>
          <a:prstGeom prst="rect">
            <a:avLst/>
          </a:prstGeom>
          <a:solidFill>
            <a:srgbClr val="C5DA37"/>
          </a:solidFill>
          <a:ln w="12700">
            <a:solidFill>
              <a:srgbClr val="C5DA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E8DA81C2-F678-135D-2F68-3E70624B1782}"/>
              </a:ext>
            </a:extLst>
          </p:cNvPr>
          <p:cNvSpPr/>
          <p:nvPr/>
        </p:nvSpPr>
        <p:spPr>
          <a:xfrm>
            <a:off x="9582912" y="1307973"/>
            <a:ext cx="2103120" cy="56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R$ 5.752.734</a:t>
            </a: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BF08E35-9CA2-F65D-0B4B-2340CC705EAC}"/>
              </a:ext>
            </a:extLst>
          </p:cNvPr>
          <p:cNvSpPr/>
          <p:nvPr/>
        </p:nvSpPr>
        <p:spPr>
          <a:xfrm>
            <a:off x="9601200" y="1858442"/>
            <a:ext cx="206654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★ VALOR TOTAL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65685B7-0AE4-72F5-9B8C-B34C00E4F9E7}"/>
              </a:ext>
            </a:extLst>
          </p:cNvPr>
          <p:cNvSpPr/>
          <p:nvPr/>
        </p:nvSpPr>
        <p:spPr>
          <a:xfrm>
            <a:off x="9601200" y="2204085"/>
            <a:ext cx="206654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economia + banco</a:t>
            </a:r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629AF4B1-E2DE-4FDB-E215-7D5EE411980C}"/>
              </a:ext>
            </a:extLst>
          </p:cNvPr>
          <p:cNvSpPr/>
          <p:nvPr/>
        </p:nvSpPr>
        <p:spPr>
          <a:xfrm>
            <a:off x="420624" y="2685775"/>
            <a:ext cx="11347704" cy="2830069"/>
          </a:xfrm>
          <a:prstGeom prst="rect">
            <a:avLst/>
          </a:prstGeom>
          <a:solidFill>
            <a:srgbClr val="F5F8FA"/>
          </a:solidFill>
          <a:ln w="635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CFFAA9AA-8B67-46BA-0725-0AC0BCFDDEAF}"/>
              </a:ext>
            </a:extLst>
          </p:cNvPr>
          <p:cNvSpPr/>
          <p:nvPr/>
        </p:nvSpPr>
        <p:spPr>
          <a:xfrm>
            <a:off x="548640" y="2731495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Decomposição de Custo — 120 meses</a:t>
            </a: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28046C9F-1530-637F-C525-A67313592220}"/>
              </a:ext>
            </a:extLst>
          </p:cNvPr>
          <p:cNvSpPr/>
          <p:nvPr/>
        </p:nvSpPr>
        <p:spPr>
          <a:xfrm>
            <a:off x="420624" y="3069823"/>
            <a:ext cx="11347704" cy="333757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825240DB-1136-9CBD-471D-7431AFC9988A}"/>
              </a:ext>
            </a:extLst>
          </p:cNvPr>
          <p:cNvSpPr/>
          <p:nvPr/>
        </p:nvSpPr>
        <p:spPr>
          <a:xfrm>
            <a:off x="530352" y="3078967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Custo SEM Helexia — baseline 120m</a:t>
            </a: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CBBD5871-9C7B-29BF-DAC5-741009A11514}"/>
              </a:ext>
            </a:extLst>
          </p:cNvPr>
          <p:cNvSpPr/>
          <p:nvPr/>
        </p:nvSpPr>
        <p:spPr>
          <a:xfrm>
            <a:off x="6355080" y="3078967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R$ 19.293.114</a:t>
            </a: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765FD118-4A73-24AE-6CCE-77596C06EBD2}"/>
              </a:ext>
            </a:extLst>
          </p:cNvPr>
          <p:cNvSpPr/>
          <p:nvPr/>
        </p:nvSpPr>
        <p:spPr>
          <a:xfrm>
            <a:off x="8430768" y="3078967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100,0%</a:t>
            </a: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6CE6EBF-3775-1E81-BC8A-00879E31EB45}"/>
              </a:ext>
            </a:extLst>
          </p:cNvPr>
          <p:cNvSpPr/>
          <p:nvPr/>
        </p:nvSpPr>
        <p:spPr>
          <a:xfrm>
            <a:off x="9692640" y="3078967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R$ 160.776/mês</a:t>
            </a:r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425C9849-CA6B-4249-DB2C-9216419E920F}"/>
              </a:ext>
            </a:extLst>
          </p:cNvPr>
          <p:cNvSpPr/>
          <p:nvPr/>
        </p:nvSpPr>
        <p:spPr>
          <a:xfrm>
            <a:off x="420624" y="3421867"/>
            <a:ext cx="11347704" cy="333757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E3DF5EC9-7141-09A7-7368-7174FC45FB87}"/>
              </a:ext>
            </a:extLst>
          </p:cNvPr>
          <p:cNvSpPr/>
          <p:nvPr/>
        </p:nvSpPr>
        <p:spPr>
          <a:xfrm>
            <a:off x="530352" y="3431011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  Rede remanescente COM Helexia (R$)</a:t>
            </a:r>
            <a:endParaRPr lang="en-US" sz="95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E2BA8E7E-91F6-96DB-520E-B99DBE6A8CCB}"/>
              </a:ext>
            </a:extLst>
          </p:cNvPr>
          <p:cNvSpPr/>
          <p:nvPr/>
        </p:nvSpPr>
        <p:spPr>
          <a:xfrm>
            <a:off x="6355080" y="3431011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R$ 6.278.709</a:t>
            </a: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C3EFF8E-4D26-4023-1E6B-2C1E7893CADB}"/>
              </a:ext>
            </a:extLst>
          </p:cNvPr>
          <p:cNvSpPr/>
          <p:nvPr/>
        </p:nvSpPr>
        <p:spPr>
          <a:xfrm>
            <a:off x="8430768" y="3431011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32,5%</a:t>
            </a: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93719C5D-2197-8C9C-211E-DA39F380C5FB}"/>
              </a:ext>
            </a:extLst>
          </p:cNvPr>
          <p:cNvSpPr/>
          <p:nvPr/>
        </p:nvSpPr>
        <p:spPr>
          <a:xfrm>
            <a:off x="9692640" y="3431011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R$ 52.323/mês</a:t>
            </a:r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6DB6E4DD-C42A-B0F7-8528-8DB8C41F922B}"/>
              </a:ext>
            </a:extLst>
          </p:cNvPr>
          <p:cNvSpPr/>
          <p:nvPr/>
        </p:nvSpPr>
        <p:spPr>
          <a:xfrm>
            <a:off x="420624" y="3773911"/>
            <a:ext cx="11347704" cy="333757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62669C75-8511-8A03-C7BD-E510D113A070}"/>
              </a:ext>
            </a:extLst>
          </p:cNvPr>
          <p:cNvSpPr/>
          <p:nvPr/>
        </p:nvSpPr>
        <p:spPr>
          <a:xfrm>
            <a:off x="530352" y="3783055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  + PPA pago à Helexia (R$)</a:t>
            </a:r>
            <a:endParaRPr lang="en-US" sz="950" dirty="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04D820B5-0186-4610-7EE3-51AB367CDF2F}"/>
              </a:ext>
            </a:extLst>
          </p:cNvPr>
          <p:cNvSpPr/>
          <p:nvPr/>
        </p:nvSpPr>
        <p:spPr>
          <a:xfrm>
            <a:off x="6355080" y="3783055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R$ 7.326.415</a:t>
            </a: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681D87C2-40DE-0928-A257-1105FCE90DD9}"/>
              </a:ext>
            </a:extLst>
          </p:cNvPr>
          <p:cNvSpPr/>
          <p:nvPr/>
        </p:nvSpPr>
        <p:spPr>
          <a:xfrm>
            <a:off x="8430768" y="3783055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38,0%</a:t>
            </a:r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1B66E975-787A-D6EC-3FCE-C36A077EE6D3}"/>
              </a:ext>
            </a:extLst>
          </p:cNvPr>
          <p:cNvSpPr/>
          <p:nvPr/>
        </p:nvSpPr>
        <p:spPr>
          <a:xfrm>
            <a:off x="9692640" y="3783055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R$ 61.053/mês</a:t>
            </a:r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EC1A28FD-6077-3627-9581-57E4ABC2281F}"/>
              </a:ext>
            </a:extLst>
          </p:cNvPr>
          <p:cNvSpPr/>
          <p:nvPr/>
        </p:nvSpPr>
        <p:spPr>
          <a:xfrm>
            <a:off x="420624" y="4125955"/>
            <a:ext cx="11347704" cy="333757"/>
          </a:xfrm>
          <a:prstGeom prst="rect">
            <a:avLst/>
          </a:prstGeom>
          <a:solidFill>
            <a:srgbClr val="CCDBE2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42FEABC0-4E88-D394-E80D-6D67333FBDAC}"/>
              </a:ext>
            </a:extLst>
          </p:cNvPr>
          <p:cNvSpPr/>
          <p:nvPr/>
        </p:nvSpPr>
        <p:spPr>
          <a:xfrm>
            <a:off x="530352" y="4135099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Custo total COM Helexia (rede + PPA)</a:t>
            </a:r>
            <a:endParaRPr lang="en-US" sz="950" dirty="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53A055B5-81A7-FFF1-74D9-20247ED07D69}"/>
              </a:ext>
            </a:extLst>
          </p:cNvPr>
          <p:cNvSpPr/>
          <p:nvPr/>
        </p:nvSpPr>
        <p:spPr>
          <a:xfrm>
            <a:off x="6355080" y="4135099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R$ 13.605.124</a:t>
            </a:r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AB23CBCB-BE20-9FEB-9141-4529EA7501FB}"/>
              </a:ext>
            </a:extLst>
          </p:cNvPr>
          <p:cNvSpPr/>
          <p:nvPr/>
        </p:nvSpPr>
        <p:spPr>
          <a:xfrm>
            <a:off x="8430768" y="4135099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70,5%</a:t>
            </a: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69E3E193-B0AD-F0CA-7345-E6E647F83A37}"/>
              </a:ext>
            </a:extLst>
          </p:cNvPr>
          <p:cNvSpPr/>
          <p:nvPr/>
        </p:nvSpPr>
        <p:spPr>
          <a:xfrm>
            <a:off x="9692640" y="4135099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R$ 113.376/mês</a:t>
            </a: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41198650-7AE1-A739-0F52-996F5058132D}"/>
              </a:ext>
            </a:extLst>
          </p:cNvPr>
          <p:cNvSpPr/>
          <p:nvPr/>
        </p:nvSpPr>
        <p:spPr>
          <a:xfrm>
            <a:off x="420624" y="4477999"/>
            <a:ext cx="11347704" cy="333757"/>
          </a:xfrm>
          <a:prstGeom prst="rect">
            <a:avLst/>
          </a:prstGeom>
          <a:solidFill>
            <a:srgbClr val="D4EDDA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53CDC627-34D6-A144-DCDB-6C53BA6C0F81}"/>
              </a:ext>
            </a:extLst>
          </p:cNvPr>
          <p:cNvSpPr/>
          <p:nvPr/>
        </p:nvSpPr>
        <p:spPr>
          <a:xfrm>
            <a:off x="530352" y="4487143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★  Economia Líquida (rede evitada − PPA)</a:t>
            </a:r>
            <a:endParaRPr lang="en-US" sz="950" dirty="0"/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0F4C31DB-A138-4E1A-7F2C-04D052CE76CF}"/>
              </a:ext>
            </a:extLst>
          </p:cNvPr>
          <p:cNvSpPr/>
          <p:nvPr/>
        </p:nvSpPr>
        <p:spPr>
          <a:xfrm>
            <a:off x="6355080" y="4487143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R$ 5.687.990</a:t>
            </a:r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022C9D73-B502-D7B5-A1CD-6A2D7DA48251}"/>
              </a:ext>
            </a:extLst>
          </p:cNvPr>
          <p:cNvSpPr/>
          <p:nvPr/>
        </p:nvSpPr>
        <p:spPr>
          <a:xfrm>
            <a:off x="8430768" y="4487143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29,5%</a:t>
            </a:r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D0470C52-F85B-15E8-DDA9-14B84F2EFD39}"/>
              </a:ext>
            </a:extLst>
          </p:cNvPr>
          <p:cNvSpPr/>
          <p:nvPr/>
        </p:nvSpPr>
        <p:spPr>
          <a:xfrm>
            <a:off x="9692640" y="4487143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R$ 47.400/mês</a:t>
            </a:r>
          </a:p>
        </p:txBody>
      </p:sp>
      <p:sp>
        <p:nvSpPr>
          <p:cNvPr id="56" name="Shape 53">
            <a:extLst>
              <a:ext uri="{FF2B5EF4-FFF2-40B4-BE49-F238E27FC236}">
                <a16:creationId xmlns:a16="http://schemas.microsoft.com/office/drawing/2014/main" id="{166CDA2D-C666-4479-BCA7-6AB992FA7C31}"/>
              </a:ext>
            </a:extLst>
          </p:cNvPr>
          <p:cNvSpPr/>
          <p:nvPr/>
        </p:nvSpPr>
        <p:spPr>
          <a:xfrm>
            <a:off x="420624" y="4830043"/>
            <a:ext cx="11347704" cy="333757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3A90F9B2-AF39-1540-D4A1-26BCA67E6CE7}"/>
              </a:ext>
            </a:extLst>
          </p:cNvPr>
          <p:cNvSpPr/>
          <p:nvPr/>
        </p:nvSpPr>
        <p:spPr>
          <a:xfrm>
            <a:off x="530352" y="4839187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  + Banco atribuível Helexia @ PPA</a:t>
            </a:r>
          </a:p>
        </p:txBody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6BEB4F59-844C-5025-50BE-137BE266DCC8}"/>
              </a:ext>
            </a:extLst>
          </p:cNvPr>
          <p:cNvSpPr/>
          <p:nvPr/>
        </p:nvSpPr>
        <p:spPr>
          <a:xfrm>
            <a:off x="6355080" y="4839187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R$ 64.744</a:t>
            </a:r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046CAA0E-ABE1-7580-CDE6-0F185084A825}"/>
              </a:ext>
            </a:extLst>
          </p:cNvPr>
          <p:cNvSpPr/>
          <p:nvPr/>
        </p:nvSpPr>
        <p:spPr>
          <a:xfrm>
            <a:off x="8430768" y="4839187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0,3%</a:t>
            </a:r>
          </a:p>
        </p:txBody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1DF45D61-2953-0359-70F3-DFE62954D916}"/>
              </a:ext>
            </a:extLst>
          </p:cNvPr>
          <p:cNvSpPr/>
          <p:nvPr/>
        </p:nvSpPr>
        <p:spPr>
          <a:xfrm>
            <a:off x="9692640" y="4839187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R$ 540/mês</a:t>
            </a:r>
          </a:p>
        </p:txBody>
      </p:sp>
      <p:sp>
        <p:nvSpPr>
          <p:cNvPr id="61" name="Shape 58">
            <a:extLst>
              <a:ext uri="{FF2B5EF4-FFF2-40B4-BE49-F238E27FC236}">
                <a16:creationId xmlns:a16="http://schemas.microsoft.com/office/drawing/2014/main" id="{79C83CC4-6A28-0E26-4E5D-B7ACB73C351B}"/>
              </a:ext>
            </a:extLst>
          </p:cNvPr>
          <p:cNvSpPr/>
          <p:nvPr/>
        </p:nvSpPr>
        <p:spPr>
          <a:xfrm>
            <a:off x="420624" y="5182087"/>
            <a:ext cx="11347704" cy="333757"/>
          </a:xfrm>
          <a:prstGeom prst="rect">
            <a:avLst/>
          </a:prstGeom>
          <a:solidFill>
            <a:srgbClr val="DFF0D0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A4412253-4E0A-BFFA-3521-419993E60350}"/>
              </a:ext>
            </a:extLst>
          </p:cNvPr>
          <p:cNvSpPr/>
          <p:nvPr/>
        </p:nvSpPr>
        <p:spPr>
          <a:xfrm>
            <a:off x="530352" y="5191231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★  VALOR TOTAL HELEXIA</a:t>
            </a:r>
          </a:p>
        </p:txBody>
      </p:sp>
      <p:sp>
        <p:nvSpPr>
          <p:cNvPr id="63" name="Text 60">
            <a:extLst>
              <a:ext uri="{FF2B5EF4-FFF2-40B4-BE49-F238E27FC236}">
                <a16:creationId xmlns:a16="http://schemas.microsoft.com/office/drawing/2014/main" id="{DDE1AF4A-A7AB-3F30-BECE-2684E6722D57}"/>
              </a:ext>
            </a:extLst>
          </p:cNvPr>
          <p:cNvSpPr/>
          <p:nvPr/>
        </p:nvSpPr>
        <p:spPr>
          <a:xfrm>
            <a:off x="6355080" y="5191231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R$ 5.752.734</a:t>
            </a:r>
          </a:p>
        </p:txBody>
      </p:sp>
      <p:sp>
        <p:nvSpPr>
          <p:cNvPr id="64" name="Text 61">
            <a:extLst>
              <a:ext uri="{FF2B5EF4-FFF2-40B4-BE49-F238E27FC236}">
                <a16:creationId xmlns:a16="http://schemas.microsoft.com/office/drawing/2014/main" id="{CBDF2A81-8548-A517-4E1C-C5E6F9A28D0B}"/>
              </a:ext>
            </a:extLst>
          </p:cNvPr>
          <p:cNvSpPr/>
          <p:nvPr/>
        </p:nvSpPr>
        <p:spPr>
          <a:xfrm>
            <a:off x="8430768" y="5191231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29,8%</a:t>
            </a:r>
          </a:p>
        </p:txBody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E1A1E7EE-6964-3ECF-9AE8-6B3BFB2E79EB}"/>
              </a:ext>
            </a:extLst>
          </p:cNvPr>
          <p:cNvSpPr/>
          <p:nvPr/>
        </p:nvSpPr>
        <p:spPr>
          <a:xfrm>
            <a:off x="9692640" y="5191231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R$ 47.939/mês</a:t>
            </a:r>
          </a:p>
        </p:txBody>
      </p:sp>
      <p:sp>
        <p:nvSpPr>
          <p:cNvPr id="3" name="GradLine">
            <a:extLst>
              <a:ext uri="{FF2B5EF4-FFF2-40B4-BE49-F238E27FC236}">
                <a16:creationId xmlns:a16="http://schemas.microsoft.com/office/drawing/2014/main" id="{D124363F-09AA-66F7-7337-40424EF7E30D}"/>
              </a:ext>
            </a:extLst>
          </p:cNvPr>
          <p:cNvSpPr>
            <a:spLocks noGrp="1"/>
          </p:cNvSpPr>
          <p:nvPr/>
        </p:nvSpPr>
        <p:spPr>
          <a:xfrm>
            <a:off x="421538" y="920801"/>
            <a:ext cx="11404397" cy="53950"/>
          </a:xfrm>
          <a:prstGeom prst="rect">
            <a:avLst/>
          </a:prstGeom>
          <a:gradFill flip="none" rotWithShape="1">
            <a:gsLst>
              <a:gs pos="0">
                <a:srgbClr val="004B70"/>
              </a:gs>
              <a:gs pos="60000">
                <a:srgbClr val="30937B"/>
              </a:gs>
              <a:gs pos="100000">
                <a:srgbClr val="C6DA38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896" name="Image 0" descr="preencoded.png">
            <a:extLst>
              <a:ext uri="{FF2B5EF4-FFF2-40B4-BE49-F238E27FC236}">
                <a16:creationId xmlns:a16="http://schemas.microsoft.com/office/drawing/2014/main" id="{13BDAE37-1C5C-1E94-6477-1149ADB9B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11" y="6292789"/>
            <a:ext cx="1030504" cy="22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30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538" y="271577"/>
            <a:ext cx="9875520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004B70"/>
                </a:solidFill>
                <a:latin typeface="Geologica" pitchFamily="2" charset="0"/>
              </a:rPr>
              <a:t>Como Funciona — Rateio Fixo CS3 para 18 UCs </a:t>
            </a:r>
            <a:r>
              <a:rPr lang="en-US" sz="2800" dirty="0" err="1">
                <a:solidFill>
                  <a:srgbClr val="004B70"/>
                </a:solidFill>
                <a:latin typeface="Geologica" pitchFamily="2" charset="0"/>
              </a:rPr>
              <a:t>Copasul</a:t>
            </a:r>
            <a:endParaRPr lang="en-US" sz="2800" dirty="0">
              <a:solidFill>
                <a:srgbClr val="004B70"/>
              </a:solidFill>
              <a:latin typeface="Geologica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639105" y="636331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601200" y="6291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92A8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helexia.group</a:t>
            </a:r>
            <a:endParaRPr lang="en-US" sz="1200" dirty="0">
              <a:latin typeface="Geologica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20624" y="1224915"/>
            <a:ext cx="3566160" cy="3840480"/>
          </a:xfrm>
          <a:prstGeom prst="rect">
            <a:avLst/>
          </a:prstGeom>
          <a:solidFill>
            <a:srgbClr val="E8EFF5"/>
          </a:solidFill>
          <a:ln w="19050">
            <a:solidFill>
              <a:srgbClr val="004B7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2000"/>
          </a:p>
        </p:txBody>
      </p:sp>
      <p:sp>
        <p:nvSpPr>
          <p:cNvPr id="8" name="Shape 5"/>
          <p:cNvSpPr/>
          <p:nvPr/>
        </p:nvSpPr>
        <p:spPr>
          <a:xfrm>
            <a:off x="420624" y="1224915"/>
            <a:ext cx="3566160" cy="475488"/>
          </a:xfrm>
          <a:prstGeom prst="rect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</p:spPr>
        <p:txBody>
          <a:bodyPr/>
          <a:lstStyle/>
          <a:p>
            <a:endParaRPr lang="fr-FR" sz="2000"/>
          </a:p>
        </p:txBody>
      </p:sp>
      <p:sp>
        <p:nvSpPr>
          <p:cNvPr id="9" name="Text 6"/>
          <p:cNvSpPr/>
          <p:nvPr/>
        </p:nvSpPr>
        <p:spPr>
          <a:xfrm>
            <a:off x="512064" y="126149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50976" y="1261491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CS3 Cassilândia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" y="1800225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• </a:t>
            </a:r>
            <a:r>
              <a:rPr lang="en-US" sz="1050" dirty="0">
                <a:solidFill>
                  <a:srgbClr val="565E73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Usina: 625 kWac ground-mounted c/ trackers</a:t>
            </a:r>
            <a:endParaRPr lang="en-US" sz="1050" dirty="0">
              <a:latin typeface="Geologica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85216" y="2385441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• </a:t>
            </a:r>
            <a:r>
              <a:rPr lang="en-US" sz="1050" dirty="0">
                <a:solidFill>
                  <a:srgbClr val="565E73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P50: 3.375 MWh em 24 meses</a:t>
            </a:r>
            <a:endParaRPr lang="en-US" sz="1050" dirty="0">
              <a:latin typeface="Geologica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85216" y="2970657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• </a:t>
            </a:r>
            <a:r>
              <a:rPr lang="en-US" sz="1050" dirty="0">
                <a:solidFill>
                  <a:srgbClr val="565E73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Energia injetada na rede Energisa MS</a:t>
            </a:r>
            <a:endParaRPr lang="en-US" sz="1050" dirty="0">
              <a:latin typeface="Geologica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85216" y="3555873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• </a:t>
            </a:r>
            <a:r>
              <a:rPr lang="en-US" sz="1050" dirty="0">
                <a:solidFill>
                  <a:srgbClr val="565E73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PPA: R$ 0,4425/kWh (take-or-pay)</a:t>
            </a:r>
            <a:endParaRPr lang="en-US" sz="1050" dirty="0">
              <a:latin typeface="Geologica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85216" y="4141089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• </a:t>
            </a:r>
            <a:r>
              <a:rPr lang="en-US" sz="1050" dirty="0">
                <a:solidFill>
                  <a:srgbClr val="565E73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Início: Junho 2026 | Prazo: 24 meses</a:t>
            </a:r>
            <a:endParaRPr lang="en-US" sz="1050" dirty="0">
              <a:latin typeface="Geologica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224528" y="1224915"/>
            <a:ext cx="3566160" cy="3840480"/>
          </a:xfrm>
          <a:prstGeom prst="rect">
            <a:avLst/>
          </a:prstGeom>
          <a:solidFill>
            <a:srgbClr val="E8F5F0"/>
          </a:solidFill>
          <a:ln w="19050">
            <a:solidFill>
              <a:srgbClr val="2F927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2000"/>
          </a:p>
        </p:txBody>
      </p:sp>
      <p:sp>
        <p:nvSpPr>
          <p:cNvPr id="17" name="Shape 14"/>
          <p:cNvSpPr/>
          <p:nvPr/>
        </p:nvSpPr>
        <p:spPr>
          <a:xfrm>
            <a:off x="4224528" y="1224915"/>
            <a:ext cx="3566160" cy="475488"/>
          </a:xfrm>
          <a:prstGeom prst="rect">
            <a:avLst/>
          </a:prstGeom>
          <a:solidFill>
            <a:srgbClr val="2F927B"/>
          </a:solidFill>
          <a:ln w="12700">
            <a:solidFill>
              <a:srgbClr val="2F927B"/>
            </a:solidFill>
            <a:prstDash val="solid"/>
          </a:ln>
        </p:spPr>
        <p:txBody>
          <a:bodyPr/>
          <a:lstStyle/>
          <a:p>
            <a:endParaRPr lang="fr-FR" sz="2000"/>
          </a:p>
        </p:txBody>
      </p:sp>
      <p:sp>
        <p:nvSpPr>
          <p:cNvPr id="18" name="Text 15"/>
          <p:cNvSpPr/>
          <p:nvPr/>
        </p:nvSpPr>
        <p:spPr>
          <a:xfrm>
            <a:off x="4315968" y="126149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754880" y="1261491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Rateio Fixo — 4 Períodos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800225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• </a:t>
            </a:r>
            <a:r>
              <a:rPr lang="en-US" sz="1050" dirty="0">
                <a:solidFill>
                  <a:srgbClr val="565E73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P1: Jun–Set/26  → NHS 73,8%</a:t>
            </a:r>
            <a:endParaRPr lang="en-US" sz="1050" dirty="0">
              <a:latin typeface="Geologica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389120" y="2385441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• </a:t>
            </a:r>
            <a:r>
              <a:rPr lang="en-US" sz="1050" dirty="0">
                <a:solidFill>
                  <a:srgbClr val="565E73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P2: Out/26–Mar/27 → NHS 51,8%</a:t>
            </a:r>
            <a:endParaRPr lang="en-US" sz="1050" dirty="0">
              <a:latin typeface="Geologica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389120" y="2970657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• </a:t>
            </a:r>
            <a:r>
              <a:rPr lang="en-US" sz="1050" dirty="0">
                <a:solidFill>
                  <a:srgbClr val="565E73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P3: Abr–Set/27  → NHS 67,1%</a:t>
            </a:r>
            <a:endParaRPr lang="en-US" sz="1050" dirty="0">
              <a:latin typeface="Geologica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389120" y="3555873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• </a:t>
            </a:r>
            <a:r>
              <a:rPr lang="en-US" sz="1050" dirty="0">
                <a:solidFill>
                  <a:srgbClr val="565E73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P4: Out/27–Mai/28 → NHS 25,9%</a:t>
            </a:r>
            <a:endParaRPr lang="en-US" sz="1050" dirty="0">
              <a:latin typeface="Geologica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389120" y="4141089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927B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• </a:t>
            </a:r>
            <a:r>
              <a:rPr lang="en-US" sz="1050" dirty="0">
                <a:solidFill>
                  <a:srgbClr val="565E73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Otimizado via V8 Solver (P1–P4) + SLSQP Python (P5–P10)</a:t>
            </a:r>
            <a:endParaRPr lang="en-US" sz="1050" dirty="0">
              <a:latin typeface="Geologica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8028432" y="1224915"/>
            <a:ext cx="3566160" cy="3840480"/>
          </a:xfrm>
          <a:prstGeom prst="rect">
            <a:avLst/>
          </a:prstGeom>
          <a:solidFill>
            <a:srgbClr val="EEF3F8"/>
          </a:solidFill>
          <a:ln w="19050">
            <a:solidFill>
              <a:srgbClr val="6692A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sz="2000"/>
          </a:p>
        </p:txBody>
      </p:sp>
      <p:sp>
        <p:nvSpPr>
          <p:cNvPr id="26" name="Shape 23"/>
          <p:cNvSpPr/>
          <p:nvPr/>
        </p:nvSpPr>
        <p:spPr>
          <a:xfrm>
            <a:off x="8028432" y="1224915"/>
            <a:ext cx="3566160" cy="475488"/>
          </a:xfrm>
          <a:prstGeom prst="rect">
            <a:avLst/>
          </a:prstGeom>
          <a:solidFill>
            <a:srgbClr val="6692A8"/>
          </a:solidFill>
          <a:ln w="12700">
            <a:solidFill>
              <a:srgbClr val="6692A8"/>
            </a:solidFill>
            <a:prstDash val="solid"/>
          </a:ln>
        </p:spPr>
        <p:txBody>
          <a:bodyPr/>
          <a:lstStyle/>
          <a:p>
            <a:endParaRPr lang="fr-FR" sz="2000"/>
          </a:p>
        </p:txBody>
      </p:sp>
      <p:sp>
        <p:nvSpPr>
          <p:cNvPr id="27" name="Text 24"/>
          <p:cNvSpPr/>
          <p:nvPr/>
        </p:nvSpPr>
        <p:spPr>
          <a:xfrm>
            <a:off x="8119872" y="126149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558784" y="1261491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Banco de Créditos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193024" y="1800225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92A8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• </a:t>
            </a:r>
            <a:r>
              <a:rPr lang="en-US" sz="1050" dirty="0">
                <a:solidFill>
                  <a:srgbClr val="565E73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NHS abre c/ 148.516 kWh (Grupo A4V)</a:t>
            </a:r>
            <a:endParaRPr lang="en-US" sz="1050" dirty="0">
              <a:latin typeface="Geologica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193024" y="2385441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92A8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• </a:t>
            </a:r>
            <a:r>
              <a:rPr lang="en-US" sz="1050" dirty="0">
                <a:solidFill>
                  <a:srgbClr val="565E73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AMD abre c/ 991.029 kWh (Grupo A3A)</a:t>
            </a:r>
            <a:endParaRPr lang="en-US" sz="1050" dirty="0">
              <a:latin typeface="Geologica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193024" y="2970657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92A8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• </a:t>
            </a:r>
            <a:r>
              <a:rPr lang="en-US" sz="1050" dirty="0">
                <a:solidFill>
                  <a:srgbClr val="565E73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Créditos garantidos até 2045 (Lei 14.300)</a:t>
            </a:r>
            <a:endParaRPr lang="en-US" sz="1050" dirty="0">
              <a:latin typeface="Geologica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193024" y="3555873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92A8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• </a:t>
            </a:r>
            <a:r>
              <a:rPr lang="en-US" sz="1050" dirty="0">
                <a:solidFill>
                  <a:srgbClr val="565E73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Banco residual Mai/28: 897 MWh</a:t>
            </a:r>
            <a:endParaRPr lang="en-US" sz="1050" dirty="0">
              <a:latin typeface="Geologica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193024" y="4141089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92A8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• </a:t>
            </a:r>
            <a:r>
              <a:rPr lang="en-US" sz="1050" dirty="0">
                <a:solidFill>
                  <a:srgbClr val="565E73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Valor residual @ PPA: R$ 396.995</a:t>
            </a:r>
            <a:endParaRPr lang="en-US" sz="1050" dirty="0">
              <a:latin typeface="Geologica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20624" y="5183505"/>
            <a:ext cx="11347704" cy="502920"/>
          </a:xfrm>
          <a:prstGeom prst="rect">
            <a:avLst/>
          </a:prstGeom>
          <a:solidFill>
            <a:srgbClr val="FFF9E6"/>
          </a:solidFill>
          <a:ln/>
        </p:spPr>
        <p:txBody>
          <a:bodyPr wrap="square" lIns="50800" tIns="101600" rIns="101600" bIns="5080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★ BAT Batayporã (906.739 kWh stranded) → redistribuído para NHS e AMD via rateio BAT 50%/50% como parte da solução Helexia</a:t>
            </a:r>
            <a:endParaRPr lang="en-US" sz="1050" dirty="0">
              <a:latin typeface="Geologica Light" pitchFamily="2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8BDDF75-FA67-0F98-BBFD-299BEB251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11" y="6292789"/>
            <a:ext cx="1030504" cy="224837"/>
          </a:xfrm>
          <a:prstGeom prst="rect">
            <a:avLst/>
          </a:prstGeom>
        </p:spPr>
      </p:pic>
      <p:sp>
        <p:nvSpPr>
          <p:cNvPr id="35" name="GradLine">
            <a:extLst>
              <a:ext uri="{FF2B5EF4-FFF2-40B4-BE49-F238E27FC236}">
                <a16:creationId xmlns:a16="http://schemas.microsoft.com/office/drawing/2014/main" id="{AE1B516D-5164-DDBD-8901-F82BDCF4964F}"/>
              </a:ext>
            </a:extLst>
          </p:cNvPr>
          <p:cNvSpPr>
            <a:spLocks noGrp="1"/>
          </p:cNvSpPr>
          <p:nvPr/>
        </p:nvSpPr>
        <p:spPr>
          <a:xfrm>
            <a:off x="421538" y="920801"/>
            <a:ext cx="11404397" cy="53950"/>
          </a:xfrm>
          <a:prstGeom prst="rect">
            <a:avLst/>
          </a:prstGeom>
          <a:gradFill flip="none" rotWithShape="1">
            <a:gsLst>
              <a:gs pos="0">
                <a:srgbClr val="004B70"/>
              </a:gs>
              <a:gs pos="60000">
                <a:srgbClr val="30937B"/>
              </a:gs>
              <a:gs pos="100000">
                <a:srgbClr val="C6DA38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9034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538" y="271577"/>
            <a:ext cx="11346790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4B70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Custo Mensal — SEM vs COM Helexia (R$) | Baseline c/ desconto Plin 20%</a:t>
            </a:r>
            <a:endParaRPr lang="en-US" sz="2400" dirty="0">
              <a:latin typeface="Geologica" pitchFamily="2" charset="0"/>
            </a:endParaRPr>
          </a:p>
        </p:txBody>
      </p:sp>
      <p:sp>
        <p:nvSpPr>
          <p:cNvPr id="998" name="GradLine"/>
          <p:cNvSpPr>
            <a:spLocks noGrp="1"/>
          </p:cNvSpPr>
          <p:nvPr/>
        </p:nvSpPr>
        <p:spPr>
          <a:xfrm>
            <a:off x="421538" y="920801"/>
            <a:ext cx="11404397" cy="53950"/>
          </a:xfrm>
          <a:prstGeom prst="rect">
            <a:avLst/>
          </a:prstGeom>
          <a:gradFill flip="none" rotWithShape="1">
            <a:gsLst>
              <a:gs pos="0">
                <a:srgbClr val="004B70"/>
              </a:gs>
              <a:gs pos="60000">
                <a:srgbClr val="30937B"/>
              </a:gs>
              <a:gs pos="100000">
                <a:srgbClr val="C6DA38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639105" y="636331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</a:rPr>
              <a:t>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601200" y="6291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92A8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helexia.group</a:t>
            </a:r>
            <a:endParaRPr lang="en-US" sz="1200" dirty="0">
              <a:latin typeface="Geologica" pitchFamily="2" charset="0"/>
            </a:endParaRPr>
          </a:p>
        </p:txBody>
      </p:sp>
      <p:graphicFrame>
        <p:nvGraphicFramePr>
          <p:cNvPr id="7" name="Chart 0"/>
          <p:cNvGraphicFramePr/>
          <p:nvPr/>
        </p:nvGraphicFramePr>
        <p:xfrm>
          <a:off x="420624" y="1308050"/>
          <a:ext cx="11347704" cy="5001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BDD83C1-19E2-18C8-B048-092228AD1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11" y="6292789"/>
            <a:ext cx="1030504" cy="22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2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537" y="271577"/>
            <a:ext cx="10330925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004B70"/>
                </a:solidFill>
                <a:latin typeface="Geologica" pitchFamily="2" charset="0"/>
              </a:rPr>
              <a:t>Economia Acumulada ao Longo do Contrato (R$) - 24 Meses</a:t>
            </a:r>
          </a:p>
        </p:txBody>
      </p:sp>
      <p:sp>
        <p:nvSpPr>
          <p:cNvPr id="998" name="GradLine"/>
          <p:cNvSpPr>
            <a:spLocks noGrp="1"/>
          </p:cNvSpPr>
          <p:nvPr/>
        </p:nvSpPr>
        <p:spPr>
          <a:xfrm>
            <a:off x="421538" y="920801"/>
            <a:ext cx="11404397" cy="53950"/>
          </a:xfrm>
          <a:prstGeom prst="rect">
            <a:avLst/>
          </a:prstGeom>
          <a:gradFill flip="none" rotWithShape="1">
            <a:gsLst>
              <a:gs pos="0">
                <a:srgbClr val="004B70"/>
              </a:gs>
              <a:gs pos="60000">
                <a:srgbClr val="30937B"/>
              </a:gs>
              <a:gs pos="100000">
                <a:srgbClr val="C6DA38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639105" y="636331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601200" y="6291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92A8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helexia.group</a:t>
            </a:r>
            <a:endParaRPr lang="en-US" sz="1200" dirty="0">
              <a:latin typeface="Geologica" pitchFamily="2" charset="0"/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4249194727"/>
              </p:ext>
            </p:extLst>
          </p:nvPr>
        </p:nvGraphicFramePr>
        <p:xfrm>
          <a:off x="420624" y="1195350"/>
          <a:ext cx="7929049" cy="4365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8686800" y="1188720"/>
            <a:ext cx="3017520" cy="1234440"/>
          </a:xfrm>
          <a:prstGeom prst="rect">
            <a:avLst/>
          </a:prstGeom>
          <a:solidFill>
            <a:srgbClr val="CCDBE2"/>
          </a:solidFill>
          <a:ln w="12700">
            <a:solidFill>
              <a:srgbClr val="CCDBE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8759952" y="1280160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Set/26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759952" y="150876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R$ 124k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8759952" y="208483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Acum. após P1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8686800" y="2697480"/>
            <a:ext cx="3017520" cy="1234440"/>
          </a:xfrm>
          <a:prstGeom prst="rect">
            <a:avLst/>
          </a:prstGeom>
          <a:solidFill>
            <a:srgbClr val="2F927B"/>
          </a:solidFill>
          <a:ln w="12700">
            <a:solidFill>
              <a:srgbClr val="2F92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8759952" y="2788920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DBE2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Mar/27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759952" y="301752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R$ 177k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8759952" y="359359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BE2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50% atingido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686800" y="4206240"/>
            <a:ext cx="3017520" cy="1234440"/>
          </a:xfrm>
          <a:prstGeom prst="rect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8759952" y="4297680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DBE2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Mai/28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759952" y="452628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R$ 436k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8759952" y="510235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BE2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Total final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20624" y="5731306"/>
            <a:ext cx="92948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Nota: curva negativa nos primeiros meses pois o PPA é pago mesmo quando banco cobre custos. Baseline usa tarifa Grupo B com desconto Plin 20% — economia conservadora.</a:t>
            </a:r>
            <a:endParaRPr lang="en-US" sz="7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E9F3C99-49CB-3A69-0F28-94CEE87A3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11" y="6292789"/>
            <a:ext cx="1030504" cy="22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3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537" y="271577"/>
            <a:ext cx="10716515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004B70"/>
                </a:solidFill>
                <a:latin typeface="Geologica" pitchFamily="2" charset="0"/>
              </a:rPr>
              <a:t>Economia </a:t>
            </a:r>
            <a:r>
              <a:rPr lang="en-US" sz="2800" dirty="0" err="1">
                <a:solidFill>
                  <a:srgbClr val="004B70"/>
                </a:solidFill>
                <a:latin typeface="Geologica" pitchFamily="2" charset="0"/>
              </a:rPr>
              <a:t>Acumulada</a:t>
            </a:r>
            <a:r>
              <a:rPr lang="en-US" sz="2800" dirty="0">
                <a:solidFill>
                  <a:srgbClr val="004B70"/>
                </a:solidFill>
                <a:latin typeface="Geologica" pitchFamily="2" charset="0"/>
              </a:rPr>
              <a:t> </a:t>
            </a:r>
            <a:r>
              <a:rPr lang="en-US" sz="2800" dirty="0" err="1">
                <a:solidFill>
                  <a:srgbClr val="004B70"/>
                </a:solidFill>
                <a:latin typeface="Geologica" pitchFamily="2" charset="0"/>
              </a:rPr>
              <a:t>ao</a:t>
            </a:r>
            <a:r>
              <a:rPr lang="en-US" sz="2800" dirty="0">
                <a:solidFill>
                  <a:srgbClr val="004B70"/>
                </a:solidFill>
                <a:latin typeface="Geologica" pitchFamily="2" charset="0"/>
              </a:rPr>
              <a:t> Longo do </a:t>
            </a:r>
            <a:r>
              <a:rPr lang="en-US" sz="2800" dirty="0" err="1">
                <a:solidFill>
                  <a:srgbClr val="004B70"/>
                </a:solidFill>
                <a:latin typeface="Geologica" pitchFamily="2" charset="0"/>
              </a:rPr>
              <a:t>Contrato</a:t>
            </a:r>
            <a:r>
              <a:rPr lang="en-US" sz="2800" dirty="0">
                <a:solidFill>
                  <a:srgbClr val="004B70"/>
                </a:solidFill>
                <a:latin typeface="Geologica" pitchFamily="2" charset="0"/>
              </a:rPr>
              <a:t> (R$) – 5 Anos</a:t>
            </a:r>
          </a:p>
        </p:txBody>
      </p:sp>
      <p:sp>
        <p:nvSpPr>
          <p:cNvPr id="998" name="GradLine"/>
          <p:cNvSpPr>
            <a:spLocks noGrp="1"/>
          </p:cNvSpPr>
          <p:nvPr/>
        </p:nvSpPr>
        <p:spPr>
          <a:xfrm>
            <a:off x="421538" y="920801"/>
            <a:ext cx="11404397" cy="53950"/>
          </a:xfrm>
          <a:prstGeom prst="rect">
            <a:avLst/>
          </a:prstGeom>
          <a:gradFill flip="none" rotWithShape="1">
            <a:gsLst>
              <a:gs pos="0">
                <a:srgbClr val="004B70"/>
              </a:gs>
              <a:gs pos="60000">
                <a:srgbClr val="30937B"/>
              </a:gs>
              <a:gs pos="100000">
                <a:srgbClr val="C6DA38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639105" y="636331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601200" y="6291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92A8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helexia.group</a:t>
            </a:r>
            <a:endParaRPr lang="en-US" sz="1200" dirty="0">
              <a:latin typeface="Geologica" pitchFamily="2" charset="0"/>
            </a:endParaRPr>
          </a:p>
        </p:txBody>
      </p:sp>
      <p:graphicFrame>
        <p:nvGraphicFramePr>
          <p:cNvPr id="7" name="Chart 0"/>
          <p:cNvGraphicFramePr/>
          <p:nvPr/>
        </p:nvGraphicFramePr>
        <p:xfrm>
          <a:off x="420624" y="1195350"/>
          <a:ext cx="7929049" cy="4365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8686800" y="1188720"/>
            <a:ext cx="3017520" cy="1234440"/>
          </a:xfrm>
          <a:prstGeom prst="rect">
            <a:avLst/>
          </a:prstGeom>
          <a:solidFill>
            <a:srgbClr val="CCDBE2"/>
          </a:solidFill>
          <a:ln w="12700">
            <a:solidFill>
              <a:srgbClr val="CCDBE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8759952" y="1280160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Ano 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759952" y="150876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R$ 436k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8759952" y="208483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24 meses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8686800" y="2697480"/>
            <a:ext cx="3017520" cy="1234440"/>
          </a:xfrm>
          <a:prstGeom prst="rect">
            <a:avLst/>
          </a:prstGeom>
          <a:solidFill>
            <a:srgbClr val="2F927B"/>
          </a:solidFill>
          <a:ln w="12700">
            <a:solidFill>
              <a:srgbClr val="2F92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8759952" y="2788920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DBE2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Ano 4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759952" y="301752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R$ 1.387k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8759952" y="359359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BE2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65% atingido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686800" y="4206240"/>
            <a:ext cx="3017520" cy="1234440"/>
          </a:xfrm>
          <a:prstGeom prst="rect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8759952" y="4297680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DBE2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Ano 5 (Mai/31)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759952" y="452628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R$ 1.931k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8759952" y="5102352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BE2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Total final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20624" y="5731306"/>
            <a:ext cx="92948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Nota: barras mostram economia acumulada por ano. Y3 marginalmente negativo (−R$2k) por efeito de transição de rateio. Baseline usa tarifa B3 c/ Plin 20%.</a:t>
            </a:r>
            <a:endParaRPr lang="en-US" sz="7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E9F3C99-49CB-3A69-0F28-94CEE87A3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11" y="6292789"/>
            <a:ext cx="1030504" cy="22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299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862BF-96D1-174A-1618-861CA04C3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EA6933-7255-8405-286E-79F7B3E9F7CD}"/>
              </a:ext>
            </a:extLst>
          </p:cNvPr>
          <p:cNvSpPr/>
          <p:nvPr/>
        </p:nvSpPr>
        <p:spPr>
          <a:xfrm>
            <a:off x="421537" y="411980"/>
            <a:ext cx="10793633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pt-BR" sz="2400" dirty="0">
                <a:solidFill>
                  <a:srgbClr val="004B70"/>
                </a:solidFill>
                <a:latin typeface="Geologica" pitchFamily="2" charset="0"/>
              </a:rPr>
              <a:t>Economia Acumulada em 10 Anos: R$ 5,7M | Contrato de Longo Prazo</a:t>
            </a:r>
          </a:p>
        </p:txBody>
      </p:sp>
      <p:sp>
        <p:nvSpPr>
          <p:cNvPr id="998" name="GradLine">
            <a:extLst>
              <a:ext uri="{FF2B5EF4-FFF2-40B4-BE49-F238E27FC236}">
                <a16:creationId xmlns:a16="http://schemas.microsoft.com/office/drawing/2014/main" id="{F42CB945-484D-53A1-3C7E-C430B9E36F47}"/>
              </a:ext>
            </a:extLst>
          </p:cNvPr>
          <p:cNvSpPr>
            <a:spLocks noGrp="1"/>
          </p:cNvSpPr>
          <p:nvPr/>
        </p:nvSpPr>
        <p:spPr>
          <a:xfrm>
            <a:off x="421538" y="920801"/>
            <a:ext cx="11404397" cy="53950"/>
          </a:xfrm>
          <a:prstGeom prst="rect">
            <a:avLst/>
          </a:prstGeom>
          <a:gradFill flip="none" rotWithShape="1">
            <a:gsLst>
              <a:gs pos="0">
                <a:srgbClr val="004B70"/>
              </a:gs>
              <a:gs pos="60000">
                <a:srgbClr val="30937B"/>
              </a:gs>
              <a:gs pos="100000">
                <a:srgbClr val="C6DA38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5FD1DC7-4F63-8821-04C1-BE80B7FE69D8}"/>
              </a:ext>
            </a:extLst>
          </p:cNvPr>
          <p:cNvSpPr/>
          <p:nvPr/>
        </p:nvSpPr>
        <p:spPr>
          <a:xfrm>
            <a:off x="5639105" y="636331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10</a:t>
            </a:r>
            <a:endParaRPr lang="en-US" sz="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E968A6C-AD3A-6CFD-CA99-1C905CD328E5}"/>
              </a:ext>
            </a:extLst>
          </p:cNvPr>
          <p:cNvSpPr/>
          <p:nvPr/>
        </p:nvSpPr>
        <p:spPr>
          <a:xfrm>
            <a:off x="9601200" y="6291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92A8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helexia.group</a:t>
            </a:r>
            <a:endParaRPr lang="en-US" sz="1200" dirty="0">
              <a:latin typeface="Geologica" pitchFamily="2" charset="0"/>
            </a:endParaRPr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A896C7C0-F8B8-FCD8-513B-17EEF4678B50}"/>
              </a:ext>
            </a:extLst>
          </p:cNvPr>
          <p:cNvGraphicFramePr/>
          <p:nvPr/>
        </p:nvGraphicFramePr>
        <p:xfrm>
          <a:off x="420624" y="1195350"/>
          <a:ext cx="7929049" cy="4365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 16">
            <a:extLst>
              <a:ext uri="{FF2B5EF4-FFF2-40B4-BE49-F238E27FC236}">
                <a16:creationId xmlns:a16="http://schemas.microsoft.com/office/drawing/2014/main" id="{C18E7B5D-8B04-6709-651C-4B4901E72F3F}"/>
              </a:ext>
            </a:extLst>
          </p:cNvPr>
          <p:cNvSpPr/>
          <p:nvPr/>
        </p:nvSpPr>
        <p:spPr>
          <a:xfrm>
            <a:off x="420624" y="5772592"/>
            <a:ext cx="11638026" cy="207749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l">
              <a:buNone/>
            </a:pPr>
            <a:r>
              <a:rPr lang="pt-BR" sz="750" b="1" dirty="0">
                <a:solidFill>
                  <a:srgbClr val="2F927B"/>
                </a:solidFill>
                <a:latin typeface="Geologica" pitchFamily="2" charset="0"/>
              </a:rPr>
              <a:t>✔ Contrato 10 anos: R$ 5,75M valor total | 29,5% redução. </a:t>
            </a:r>
            <a:r>
              <a:rPr lang="pt-BR" sz="750" dirty="0">
                <a:solidFill>
                  <a:srgbClr val="7A8499"/>
                </a:solidFill>
                <a:latin typeface="Geologica Light" pitchFamily="2" charset="0"/>
              </a:rPr>
              <a:t>Consumo +2,5%/a, sem reajuste tarifário/PPA. Banco Baytapora esgota Ano 5. Geração fixa não cobre demanda crescente — resultado conservador.</a:t>
            </a: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15DF976-F87E-67B8-78AC-5F3C5217C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11" y="6292789"/>
            <a:ext cx="1030504" cy="2248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448F272-9BAA-4E8D-906B-9E05D762F163}"/>
              </a:ext>
            </a:extLst>
          </p:cNvPr>
          <p:cNvSpPr txBox="1"/>
          <p:nvPr/>
        </p:nvSpPr>
        <p:spPr>
          <a:xfrm>
            <a:off x="8382000" y="264795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pt-BR" sz="900" i="1" dirty="0">
                <a:solidFill>
                  <a:srgbClr val="565E73"/>
                </a:solidFill>
                <a:latin typeface="Geologica Light"/>
              </a:rPr>
              <a:t>Economia total em 10 anos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1ABF87-9BDF-426B-A523-96ACA8B003B2}"/>
              </a:ext>
            </a:extLst>
          </p:cNvPr>
          <p:cNvCxnSpPr/>
          <p:nvPr/>
        </p:nvCxnSpPr>
        <p:spPr>
          <a:xfrm>
            <a:off x="8534400" y="3003550"/>
            <a:ext cx="3124200" cy="0"/>
          </a:xfrm>
          <a:prstGeom prst="straightConnector1">
            <a:avLst/>
          </a:prstGeom>
          <a:ln w="19050" cap="flat" cmpd="sng" algn="ctr">
            <a:solidFill>
              <a:srgbClr val="C5DA37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D15CA9F-C5ED-42A1-9325-E910E8F90FB3}"/>
              </a:ext>
            </a:extLst>
          </p:cNvPr>
          <p:cNvSpPr txBox="1"/>
          <p:nvPr/>
        </p:nvSpPr>
        <p:spPr>
          <a:xfrm>
            <a:off x="8382000" y="3105150"/>
            <a:ext cx="3429000" cy="252344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004B70"/>
                </a:solidFill>
                <a:latin typeface="Geologica"/>
              </a:rPr>
              <a:t>Por que a curva acelera?</a:t>
            </a:r>
          </a:p>
          <a:p>
            <a:pPr algn="l">
              <a:lnSpc>
                <a:spcPts val="1200"/>
              </a:lnSpc>
              <a:spcAft>
                <a:spcPts val="250"/>
              </a:spcAft>
              <a:buNone/>
            </a:pPr>
            <a:r>
              <a:rPr lang="pt-BR" sz="900" dirty="0">
                <a:solidFill>
                  <a:srgbClr val="565E73"/>
                </a:solidFill>
                <a:latin typeface="Geologica Light"/>
              </a:rPr>
              <a:t>O banco de créditos de </a:t>
            </a:r>
            <a:r>
              <a:rPr lang="pt-BR" sz="900" b="1" dirty="0">
                <a:solidFill>
                  <a:srgbClr val="004B70"/>
                </a:solidFill>
                <a:latin typeface="Geologica"/>
              </a:rPr>
              <a:t>Baytapora</a:t>
            </a:r>
            <a:r>
              <a:rPr lang="pt-BR" sz="900" dirty="0">
                <a:solidFill>
                  <a:srgbClr val="565E73"/>
                </a:solidFill>
                <a:latin typeface="Geologica Light"/>
              </a:rPr>
              <a:t> se esgota no Ano 5. A partir daí, a alocação para </a:t>
            </a:r>
            <a:r>
              <a:rPr lang="pt-BR" sz="900" b="1" dirty="0">
                <a:solidFill>
                  <a:srgbClr val="004B70"/>
                </a:solidFill>
                <a:latin typeface="Geologica"/>
              </a:rPr>
              <a:t>Amandina</a:t>
            </a:r>
            <a:r>
              <a:rPr lang="pt-BR" sz="900" dirty="0">
                <a:solidFill>
                  <a:srgbClr val="565E73"/>
                </a:solidFill>
                <a:latin typeface="Geologica Light"/>
              </a:rPr>
              <a:t> e </a:t>
            </a:r>
            <a:r>
              <a:rPr lang="pt-BR" sz="900" b="1" dirty="0">
                <a:solidFill>
                  <a:srgbClr val="004B70"/>
                </a:solidFill>
                <a:latin typeface="Geologica"/>
              </a:rPr>
              <a:t>NHS</a:t>
            </a:r>
            <a:r>
              <a:rPr lang="pt-BR" sz="900" dirty="0">
                <a:solidFill>
                  <a:srgbClr val="565E73"/>
                </a:solidFill>
                <a:latin typeface="Geologica Light"/>
              </a:rPr>
              <a:t> é suspensa — </a:t>
            </a:r>
            <a:r>
              <a:rPr lang="pt-BR" sz="900" b="1" dirty="0">
                <a:solidFill>
                  <a:srgbClr val="2F927B"/>
                </a:solidFill>
                <a:latin typeface="Geologica"/>
              </a:rPr>
              <a:t>toda a economia passa a vir exclusivamente via Helexia</a:t>
            </a:r>
            <a:r>
              <a:rPr lang="pt-BR" sz="900" dirty="0">
                <a:solidFill>
                  <a:srgbClr val="565E73"/>
                </a:solidFill>
                <a:latin typeface="Geologica Light"/>
              </a:rPr>
              <a:t>.</a:t>
            </a:r>
          </a:p>
          <a:p>
            <a:pPr algn="l">
              <a:lnSpc>
                <a:spcPts val="1200"/>
              </a:lnSpc>
              <a:spcAft>
                <a:spcPts val="150"/>
              </a:spcAft>
              <a:buNone/>
            </a:pPr>
            <a:r>
              <a:rPr lang="pt-BR" sz="900" dirty="0">
                <a:solidFill>
                  <a:srgbClr val="565E73"/>
                </a:solidFill>
                <a:latin typeface="Geologica Light"/>
              </a:rPr>
              <a:t>Impacto no modelo:</a:t>
            </a:r>
          </a:p>
          <a:p>
            <a:pPr marL="114300" indent="-114300" algn="l">
              <a:lnSpc>
                <a:spcPts val="1200"/>
              </a:lnSpc>
              <a:spcAft>
                <a:spcPts val="100"/>
              </a:spcAft>
              <a:buFont typeface="Arial"/>
              <a:buChar char="▸"/>
            </a:pPr>
            <a:r>
              <a:rPr lang="pt-BR" sz="900" dirty="0">
                <a:solidFill>
                  <a:srgbClr val="565E73"/>
                </a:solidFill>
                <a:latin typeface="Geologica Light"/>
              </a:rPr>
              <a:t>Economia líquida 120m: </a:t>
            </a:r>
            <a:r>
              <a:rPr lang="pt-BR" sz="900" b="1" dirty="0">
                <a:solidFill>
                  <a:srgbClr val="2F927B"/>
                </a:solidFill>
                <a:latin typeface="Geologica"/>
              </a:rPr>
              <a:t>R$ 5,69M</a:t>
            </a:r>
            <a:r>
              <a:rPr lang="pt-BR" sz="900" dirty="0">
                <a:solidFill>
                  <a:srgbClr val="565E73"/>
                </a:solidFill>
                <a:latin typeface="Geologica Light"/>
              </a:rPr>
              <a:t> (29,5% redução)</a:t>
            </a:r>
          </a:p>
          <a:p>
            <a:pPr marL="114300" indent="-114300" algn="l">
              <a:lnSpc>
                <a:spcPts val="1200"/>
              </a:lnSpc>
              <a:spcAft>
                <a:spcPts val="100"/>
              </a:spcAft>
              <a:buFont typeface="Arial"/>
              <a:buChar char="▸"/>
            </a:pPr>
            <a:r>
              <a:rPr lang="pt-BR" sz="900" dirty="0">
                <a:solidFill>
                  <a:srgbClr val="565E73"/>
                </a:solidFill>
                <a:latin typeface="Geologica Light"/>
              </a:rPr>
              <a:t>Banco residual: </a:t>
            </a:r>
            <a:r>
              <a:rPr lang="pt-BR" sz="900" b="1" dirty="0">
                <a:solidFill>
                  <a:srgbClr val="ED6D4F"/>
                </a:solidFill>
                <a:latin typeface="Geologica"/>
              </a:rPr>
              <a:t>R$ 65k</a:t>
            </a:r>
            <a:r>
              <a:rPr lang="pt-BR" sz="900" dirty="0">
                <a:solidFill>
                  <a:srgbClr val="565E73"/>
                </a:solidFill>
                <a:latin typeface="Geologica Light"/>
              </a:rPr>
              <a:t> (créditos consumidos)</a:t>
            </a:r>
          </a:p>
          <a:p>
            <a:pPr marL="114300" indent="-114300" algn="l">
              <a:lnSpc>
                <a:spcPts val="1200"/>
              </a:lnSpc>
              <a:spcAft>
                <a:spcPts val="250"/>
              </a:spcAft>
              <a:buFont typeface="Arial"/>
              <a:buChar char="▸"/>
            </a:pPr>
            <a:r>
              <a:rPr lang="pt-BR" sz="900" dirty="0">
                <a:solidFill>
                  <a:srgbClr val="565E73"/>
                </a:solidFill>
                <a:latin typeface="Geologica Light"/>
              </a:rPr>
              <a:t>Valor total Helexia: </a:t>
            </a:r>
            <a:r>
              <a:rPr lang="pt-BR" sz="900" b="1" dirty="0">
                <a:solidFill>
                  <a:srgbClr val="2F927B"/>
                </a:solidFill>
                <a:latin typeface="Geologica"/>
              </a:rPr>
              <a:t>R$ 5,75M</a:t>
            </a:r>
          </a:p>
          <a:p>
            <a:pPr algn="l">
              <a:spcAft>
                <a:spcPts val="200"/>
              </a:spcAft>
              <a:buNone/>
            </a:pPr>
            <a:br>
              <a:rPr lang="pt-BR" sz="1200" b="1" dirty="0">
                <a:solidFill>
                  <a:srgbClr val="004B70"/>
                </a:solidFill>
                <a:latin typeface="Geologica"/>
              </a:rPr>
            </a:br>
            <a:r>
              <a:rPr lang="pt-BR" sz="1200" b="1" dirty="0">
                <a:solidFill>
                  <a:srgbClr val="004B70"/>
                </a:solidFill>
                <a:latin typeface="Geologica"/>
              </a:rPr>
              <a:t>Premissas conservadoras</a:t>
            </a:r>
          </a:p>
          <a:p>
            <a:pPr algn="l">
              <a:lnSpc>
                <a:spcPts val="1200"/>
              </a:lnSpc>
              <a:buNone/>
            </a:pPr>
            <a:r>
              <a:rPr lang="pt-BR" sz="900" dirty="0">
                <a:solidFill>
                  <a:srgbClr val="565E73"/>
                </a:solidFill>
                <a:latin typeface="Geologica Light"/>
              </a:rPr>
              <a:t>Consumo cresce </a:t>
            </a:r>
            <a:r>
              <a:rPr lang="pt-BR" sz="900" b="1" dirty="0">
                <a:solidFill>
                  <a:srgbClr val="004B70"/>
                </a:solidFill>
                <a:latin typeface="Geologica"/>
              </a:rPr>
              <a:t>+2,5%/ano</a:t>
            </a:r>
            <a:r>
              <a:rPr lang="pt-BR" sz="900" dirty="0">
                <a:solidFill>
                  <a:srgbClr val="565E73"/>
                </a:solidFill>
                <a:latin typeface="Geologica Light"/>
              </a:rPr>
              <a:t>, mas sem reajuste tarifário nem correção PPA. A usina atual não acompanha a demanda crescente. </a:t>
            </a:r>
            <a:r>
              <a:rPr lang="pt-BR" sz="900">
                <a:solidFill>
                  <a:srgbClr val="565E73"/>
                </a:solidFill>
                <a:latin typeface="Geologica Light"/>
              </a:rPr>
              <a:t>O </a:t>
            </a:r>
            <a:r>
              <a:rPr lang="pt-BR" sz="900" dirty="0">
                <a:solidFill>
                  <a:srgbClr val="565E73"/>
                </a:solidFill>
                <a:latin typeface="Geologica Light"/>
              </a:rPr>
              <a:t>custo residual de rede aumenta a cada ano, reforçando o valor do contrato de longo prazo.</a:t>
            </a:r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2237FCC3-896D-DECB-C49C-8878FE6CB653}"/>
              </a:ext>
            </a:extLst>
          </p:cNvPr>
          <p:cNvSpPr/>
          <p:nvPr/>
        </p:nvSpPr>
        <p:spPr>
          <a:xfrm>
            <a:off x="8613648" y="1307257"/>
            <a:ext cx="3017520" cy="1234440"/>
          </a:xfrm>
          <a:prstGeom prst="rect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8EABAD70-A259-0DBC-39C7-06E6D0F6C401}"/>
              </a:ext>
            </a:extLst>
          </p:cNvPr>
          <p:cNvSpPr/>
          <p:nvPr/>
        </p:nvSpPr>
        <p:spPr>
          <a:xfrm>
            <a:off x="8686800" y="1398697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DBE2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Ano 10 (Mai/36)</a:t>
            </a:r>
            <a:endParaRPr lang="en-US" sz="900" dirty="0"/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A2BC0C18-D165-ED0C-81C9-2AD641A1D5E3}"/>
              </a:ext>
            </a:extLst>
          </p:cNvPr>
          <p:cNvSpPr/>
          <p:nvPr/>
        </p:nvSpPr>
        <p:spPr>
          <a:xfrm>
            <a:off x="8686800" y="1627297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R$ 5.688k</a:t>
            </a:r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54B59E74-8B03-EB32-F72E-E9F4C66325FE}"/>
              </a:ext>
            </a:extLst>
          </p:cNvPr>
          <p:cNvSpPr/>
          <p:nvPr/>
        </p:nvSpPr>
        <p:spPr>
          <a:xfrm>
            <a:off x="8686800" y="2203369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CCDBE2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Optimização</a:t>
            </a:r>
            <a:r>
              <a:rPr lang="en-US" sz="900" dirty="0">
                <a:solidFill>
                  <a:srgbClr val="CCDBE2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 total  final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45555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538" y="271577"/>
            <a:ext cx="9875520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004B70"/>
                </a:solidFill>
                <a:latin typeface="Geologica" pitchFamily="2" charset="0"/>
              </a:rPr>
              <a:t>Banco de </a:t>
            </a:r>
            <a:r>
              <a:rPr lang="en-US" sz="2800" dirty="0" err="1">
                <a:solidFill>
                  <a:srgbClr val="004B70"/>
                </a:solidFill>
                <a:latin typeface="Geologica" pitchFamily="2" charset="0"/>
              </a:rPr>
              <a:t>Créditos</a:t>
            </a:r>
            <a:r>
              <a:rPr lang="en-US" sz="2800" dirty="0">
                <a:solidFill>
                  <a:srgbClr val="004B70"/>
                </a:solidFill>
                <a:latin typeface="Geologica" pitchFamily="2" charset="0"/>
              </a:rPr>
              <a:t> — Saldo Residual Mai/2028 @ PPA (R$)</a:t>
            </a:r>
          </a:p>
        </p:txBody>
      </p:sp>
      <p:sp>
        <p:nvSpPr>
          <p:cNvPr id="998" name="GradLine"/>
          <p:cNvSpPr>
            <a:spLocks noGrp="1"/>
          </p:cNvSpPr>
          <p:nvPr/>
        </p:nvSpPr>
        <p:spPr>
          <a:xfrm>
            <a:off x="421538" y="920801"/>
            <a:ext cx="11404397" cy="53950"/>
          </a:xfrm>
          <a:prstGeom prst="rect">
            <a:avLst/>
          </a:prstGeom>
          <a:gradFill flip="none" rotWithShape="1">
            <a:gsLst>
              <a:gs pos="0">
                <a:srgbClr val="004B70"/>
              </a:gs>
              <a:gs pos="60000">
                <a:srgbClr val="30937B"/>
              </a:gs>
              <a:gs pos="100000">
                <a:srgbClr val="C6DA38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639105" y="636331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601200" y="6291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92A8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helexia.group</a:t>
            </a:r>
            <a:endParaRPr lang="en-US" sz="1200" dirty="0">
              <a:latin typeface="Geologica" pitchFamily="2" charset="0"/>
            </a:endParaRPr>
          </a:p>
        </p:txBody>
      </p:sp>
      <p:graphicFrame>
        <p:nvGraphicFramePr>
          <p:cNvPr id="7" name="Chart 0"/>
          <p:cNvGraphicFramePr/>
          <p:nvPr/>
        </p:nvGraphicFramePr>
        <p:xfrm>
          <a:off x="420624" y="1261645"/>
          <a:ext cx="7589520" cy="4862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8229600" y="1264920"/>
            <a:ext cx="3538728" cy="4805705"/>
          </a:xfrm>
          <a:prstGeom prst="rect">
            <a:avLst/>
          </a:prstGeom>
          <a:solidFill>
            <a:srgbClr val="F5F8FA"/>
          </a:solidFill>
          <a:ln w="635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5"/>
          <p:cNvSpPr/>
          <p:nvPr/>
        </p:nvSpPr>
        <p:spPr>
          <a:xfrm>
            <a:off x="8229600" y="1264920"/>
            <a:ext cx="3538728" cy="457200"/>
          </a:xfrm>
          <a:prstGeom prst="rect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8321040" y="1264920"/>
            <a:ext cx="3355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Resumo do Banco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1731264"/>
            <a:ext cx="3538728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8321040" y="1767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Total banco (kWh)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0351008" y="176784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1.355.264 kWh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229600" y="2398776"/>
            <a:ext cx="3538728" cy="621792"/>
          </a:xfrm>
          <a:prstGeom prst="rect">
            <a:avLst/>
          </a:prstGeom>
          <a:solidFill>
            <a:srgbClr val="F5F8FA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8321040" y="243535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Valor @ PPA R$0,4425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0351008" y="2435352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R$ 599.704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229600" y="3066288"/>
            <a:ext cx="3538728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8321040" y="310286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NHS (Grupo A4V)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0351008" y="3102864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R$ 51.809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229600" y="3733800"/>
            <a:ext cx="3538728" cy="621792"/>
          </a:xfrm>
          <a:prstGeom prst="rect">
            <a:avLst/>
          </a:prstGeom>
          <a:solidFill>
            <a:srgbClr val="F5F8FA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8321040" y="37703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AMD (Grupo A3A)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10351008" y="3770376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R$ 183.010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8229600" y="4401312"/>
            <a:ext cx="3538728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8321040" y="44378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Garantia créditos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0351008" y="4437888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até 2045 (Lei 14.300)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229600" y="5068824"/>
            <a:ext cx="3538728" cy="621792"/>
          </a:xfrm>
          <a:prstGeom prst="rect">
            <a:avLst/>
          </a:prstGeom>
          <a:solidFill>
            <a:srgbClr val="F5F8FA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3"/>
          <p:cNvSpPr/>
          <p:nvPr/>
        </p:nvSpPr>
        <p:spPr>
          <a:xfrm>
            <a:off x="8321040" y="51054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Impacto no valor total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10351008" y="510540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+137% vs eco. líquida</a:t>
            </a:r>
            <a:endParaRPr lang="en-US" sz="9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816937F-D513-0A89-3687-026DBB4B2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11" y="6292789"/>
            <a:ext cx="1030504" cy="22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83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538" y="271577"/>
            <a:ext cx="9875520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 err="1">
                <a:solidFill>
                  <a:srgbClr val="004B70"/>
                </a:solidFill>
                <a:latin typeface="Geologica" pitchFamily="2" charset="0"/>
              </a:rPr>
              <a:t>Premissas</a:t>
            </a:r>
            <a:r>
              <a:rPr lang="en-US" sz="2800" dirty="0">
                <a:solidFill>
                  <a:srgbClr val="004B70"/>
                </a:solidFill>
                <a:latin typeface="Geologica" pitchFamily="2" charset="0"/>
              </a:rPr>
              <a:t>-Chave do Modelo</a:t>
            </a:r>
          </a:p>
        </p:txBody>
      </p:sp>
      <p:sp>
        <p:nvSpPr>
          <p:cNvPr id="998" name="GradLine"/>
          <p:cNvSpPr>
            <a:spLocks noGrp="1"/>
          </p:cNvSpPr>
          <p:nvPr/>
        </p:nvSpPr>
        <p:spPr>
          <a:xfrm>
            <a:off x="421538" y="920801"/>
            <a:ext cx="11404397" cy="53950"/>
          </a:xfrm>
          <a:prstGeom prst="rect">
            <a:avLst/>
          </a:prstGeom>
          <a:gradFill flip="none" rotWithShape="1">
            <a:gsLst>
              <a:gs pos="0">
                <a:srgbClr val="004B70"/>
              </a:gs>
              <a:gs pos="60000">
                <a:srgbClr val="30937B"/>
              </a:gs>
              <a:gs pos="100000">
                <a:srgbClr val="C6DA38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639105" y="636331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601200" y="6291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92A8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helexia.group</a:t>
            </a:r>
            <a:endParaRPr lang="en-US" sz="1200" dirty="0">
              <a:latin typeface="Geologica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20624" y="1281880"/>
            <a:ext cx="3630168" cy="411480"/>
          </a:xfrm>
          <a:prstGeom prst="rect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12064" y="1281880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Usina &amp; Contrato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" y="1745118"/>
            <a:ext cx="363016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12064" y="1772550"/>
            <a:ext cx="18876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Usina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380915" y="1772550"/>
            <a:ext cx="1560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CS3 Cassilândia — 625 kWac | Ground-mounted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0624" y="2243466"/>
            <a:ext cx="3630168" cy="475488"/>
          </a:xfrm>
          <a:prstGeom prst="rect">
            <a:avLst/>
          </a:prstGeom>
          <a:solidFill>
            <a:srgbClr val="F5F8FA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12064" y="2270898"/>
            <a:ext cx="18876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Distribuidora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380915" y="2270898"/>
            <a:ext cx="1560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Energisa Mato Grosso do Sul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20624" y="2741814"/>
            <a:ext cx="363016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12064" y="2769246"/>
            <a:ext cx="18876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Período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380915" y="2769246"/>
            <a:ext cx="1560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Jun/2026 – Mai/2031  (60 meses) / Mai/2028 (24m opção)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20624" y="3240162"/>
            <a:ext cx="3630168" cy="475488"/>
          </a:xfrm>
          <a:prstGeom prst="rect">
            <a:avLst/>
          </a:prstGeom>
          <a:solidFill>
            <a:srgbClr val="F5F8FA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12064" y="3267594"/>
            <a:ext cx="18876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PPA Helexia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380915" y="3267594"/>
            <a:ext cx="1560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R$ 0,4425/kWh  (take-or-pay)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20624" y="3738510"/>
            <a:ext cx="363016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512064" y="3765942"/>
            <a:ext cx="18876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Geração P50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380915" y="3765942"/>
            <a:ext cx="1560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3.375,3 MWh em 24 meses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233672" y="1281880"/>
            <a:ext cx="3630168" cy="411480"/>
          </a:xfrm>
          <a:prstGeom prst="rect">
            <a:avLst/>
          </a:prstGeom>
          <a:solidFill>
            <a:srgbClr val="2F927B"/>
          </a:solidFill>
          <a:ln w="12700">
            <a:solidFill>
              <a:srgbClr val="2F92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4325112" y="1281880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Tarifas Energisa MS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233672" y="1745118"/>
            <a:ext cx="363016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4325112" y="1772550"/>
            <a:ext cx="18876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Tarifa B3 (c/ tributos)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193963" y="1772550"/>
            <a:ext cx="1560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R$ 1,1569/kWh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233672" y="2243466"/>
            <a:ext cx="3630168" cy="475488"/>
          </a:xfrm>
          <a:prstGeom prst="rect">
            <a:avLst/>
          </a:prstGeom>
          <a:solidFill>
            <a:srgbClr val="F5F8FA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4325112" y="2270898"/>
            <a:ext cx="18876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Desconto Plin (Assinatura)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193963" y="2270898"/>
            <a:ext cx="1560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65911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20% → R$ 0,9255/kWh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233672" y="2741814"/>
            <a:ext cx="363016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4325112" y="2769246"/>
            <a:ext cx="18876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Tarifa A FP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93963" y="2769246"/>
            <a:ext cx="1560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R$ 0,5265/kWh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233672" y="3240162"/>
            <a:ext cx="3630168" cy="475488"/>
          </a:xfrm>
          <a:prstGeom prst="rect">
            <a:avLst/>
          </a:prstGeom>
          <a:solidFill>
            <a:srgbClr val="F5F8FA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4325112" y="3267594"/>
            <a:ext cx="18876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Tarifa A Ponta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193963" y="3267594"/>
            <a:ext cx="1560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R$ 2,9724/kWh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233672" y="3738510"/>
            <a:ext cx="363016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6"/>
          <p:cNvSpPr/>
          <p:nvPr/>
        </p:nvSpPr>
        <p:spPr>
          <a:xfrm>
            <a:off x="4325112" y="3765942"/>
            <a:ext cx="18876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ICMS / PIS+COFINS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193963" y="3765942"/>
            <a:ext cx="1560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17,0% / 8,55%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046720" y="1281880"/>
            <a:ext cx="3630168" cy="411480"/>
          </a:xfrm>
          <a:prstGeom prst="rect">
            <a:avLst/>
          </a:prstGeom>
          <a:solidFill>
            <a:srgbClr val="6692A8"/>
          </a:solidFill>
          <a:ln w="12700">
            <a:solidFill>
              <a:srgbClr val="6692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9"/>
          <p:cNvSpPr/>
          <p:nvPr/>
        </p:nvSpPr>
        <p:spPr>
          <a:xfrm>
            <a:off x="8138160" y="1281880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Bancos Iniciais (Mai/2026)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046720" y="1745118"/>
            <a:ext cx="363016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1"/>
          <p:cNvSpPr/>
          <p:nvPr/>
        </p:nvSpPr>
        <p:spPr>
          <a:xfrm>
            <a:off x="8138160" y="1772550"/>
            <a:ext cx="18876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NHS — N. Horizonte do Sul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10007011" y="1772550"/>
            <a:ext cx="1560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148.516 kWh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8046720" y="2243466"/>
            <a:ext cx="3630168" cy="475488"/>
          </a:xfrm>
          <a:prstGeom prst="rect">
            <a:avLst/>
          </a:prstGeom>
          <a:solidFill>
            <a:srgbClr val="F5F8FA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4"/>
          <p:cNvSpPr/>
          <p:nvPr/>
        </p:nvSpPr>
        <p:spPr>
          <a:xfrm>
            <a:off x="8138160" y="2270898"/>
            <a:ext cx="18876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AMD — Amandina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10007011" y="2270898"/>
            <a:ext cx="1560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991.029 kWh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8046720" y="2741814"/>
            <a:ext cx="363016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7"/>
          <p:cNvSpPr/>
          <p:nvPr/>
        </p:nvSpPr>
        <p:spPr>
          <a:xfrm>
            <a:off x="8138160" y="2769246"/>
            <a:ext cx="18876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BAT — Batayporã (stranded)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10007011" y="2769246"/>
            <a:ext cx="1560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906.739 kWh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8046720" y="3240162"/>
            <a:ext cx="3630168" cy="475488"/>
          </a:xfrm>
          <a:prstGeom prst="rect">
            <a:avLst/>
          </a:prstGeom>
          <a:solidFill>
            <a:srgbClr val="F5F8FA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0"/>
          <p:cNvSpPr/>
          <p:nvPr/>
        </p:nvSpPr>
        <p:spPr>
          <a:xfrm>
            <a:off x="8138160" y="3267594"/>
            <a:ext cx="18876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BAT split NHS/AMD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0007011" y="3267594"/>
            <a:ext cx="1560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50% / 50%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046720" y="3738510"/>
            <a:ext cx="363016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3"/>
          <p:cNvSpPr/>
          <p:nvPr/>
        </p:nvSpPr>
        <p:spPr>
          <a:xfrm>
            <a:off x="8138160" y="3765942"/>
            <a:ext cx="18876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Crescimento Y2 / Degradação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0007011" y="3765942"/>
            <a:ext cx="1560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2,5%  /  0,5%/ano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420624" y="4396878"/>
            <a:ext cx="11347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Modelo CS3 Copasul V10  ·  B19=Sim (Plin 20%)  ·  Geração AMD usa proxy Batayporã  ·  Otimização rateio SLSQP multi-start — rateio App GD Analyzer + SLSQP Python confirmado</a:t>
            </a:r>
            <a:endParaRPr lang="en-US" sz="7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8663C02-94E1-8422-C323-7CB773512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11" y="6292789"/>
            <a:ext cx="1030504" cy="22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60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538" y="271577"/>
            <a:ext cx="11404396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 err="1">
                <a:solidFill>
                  <a:srgbClr val="004B70"/>
                </a:solidFill>
                <a:latin typeface="Geologica" pitchFamily="2" charset="0"/>
              </a:rPr>
              <a:t>Estrutura</a:t>
            </a:r>
            <a:r>
              <a:rPr lang="en-US" sz="2400" dirty="0">
                <a:solidFill>
                  <a:srgbClr val="004B70"/>
                </a:solidFill>
                <a:latin typeface="Geologica" pitchFamily="2" charset="0"/>
              </a:rPr>
              <a:t> </a:t>
            </a:r>
            <a:r>
              <a:rPr lang="en-US" sz="2400" dirty="0" err="1">
                <a:solidFill>
                  <a:srgbClr val="004B70"/>
                </a:solidFill>
                <a:latin typeface="Geologica" pitchFamily="2" charset="0"/>
              </a:rPr>
              <a:t>Contratual</a:t>
            </a:r>
            <a:r>
              <a:rPr lang="en-US" sz="2400" dirty="0">
                <a:solidFill>
                  <a:srgbClr val="004B70"/>
                </a:solidFill>
                <a:latin typeface="Geologica" pitchFamily="2" charset="0"/>
              </a:rPr>
              <a:t> — Autoconsumo Remoto / Rateio Fixo (Lei 14.300/2022)</a:t>
            </a:r>
          </a:p>
        </p:txBody>
      </p:sp>
      <p:sp>
        <p:nvSpPr>
          <p:cNvPr id="998" name="GradLine"/>
          <p:cNvSpPr>
            <a:spLocks noGrp="1"/>
          </p:cNvSpPr>
          <p:nvPr/>
        </p:nvSpPr>
        <p:spPr>
          <a:xfrm>
            <a:off x="421538" y="920801"/>
            <a:ext cx="11404397" cy="53950"/>
          </a:xfrm>
          <a:prstGeom prst="rect">
            <a:avLst/>
          </a:prstGeom>
          <a:gradFill flip="none" rotWithShape="1">
            <a:gsLst>
              <a:gs pos="0">
                <a:srgbClr val="004B70"/>
              </a:gs>
              <a:gs pos="60000">
                <a:srgbClr val="30937B"/>
              </a:gs>
              <a:gs pos="100000">
                <a:srgbClr val="C6DA38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639105" y="636331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</a:rPr>
              <a:t>13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601200" y="6291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92A8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helexia.group</a:t>
            </a:r>
            <a:endParaRPr lang="en-US" sz="1200" dirty="0">
              <a:latin typeface="Geologica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20624" y="1230126"/>
            <a:ext cx="5029200" cy="777240"/>
          </a:xfrm>
          <a:prstGeom prst="rect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12064" y="123012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HELEXIA BRASIL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(Geradora / Proprietária CS3)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" y="2591335"/>
            <a:ext cx="5029200" cy="706582"/>
          </a:xfrm>
          <a:prstGeom prst="rect">
            <a:avLst/>
          </a:prstGeom>
          <a:solidFill>
            <a:srgbClr val="2F927B"/>
          </a:solidFill>
          <a:ln w="12700">
            <a:solidFill>
              <a:srgbClr val="2F92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12064" y="2591335"/>
            <a:ext cx="4846320" cy="706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ENERGISA 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(Distribuidora — NDU Rateio)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0624" y="3917215"/>
            <a:ext cx="5029200" cy="706582"/>
          </a:xfrm>
          <a:prstGeom prst="rect">
            <a:avLst/>
          </a:prstGeom>
          <a:solidFill>
            <a:srgbClr val="6692A8"/>
          </a:solidFill>
          <a:ln w="12700">
            <a:solidFill>
              <a:srgbClr val="6692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12064" y="3917215"/>
            <a:ext cx="4846320" cy="706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COPASUL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(18 Unidades Consumidoras)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06624" y="2032304"/>
            <a:ext cx="0" cy="498764"/>
          </a:xfrm>
          <a:prstGeom prst="line">
            <a:avLst/>
          </a:prstGeom>
          <a:noFill/>
          <a:ln w="25400">
            <a:solidFill>
              <a:srgbClr val="C5DA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2276474" y="2154917"/>
            <a:ext cx="3173349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PPA take-or-pay (R$/kWh)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06624" y="3358184"/>
            <a:ext cx="0" cy="498764"/>
          </a:xfrm>
          <a:prstGeom prst="line">
            <a:avLst/>
          </a:prstGeom>
          <a:noFill/>
          <a:ln w="25400">
            <a:solidFill>
              <a:srgbClr val="C5DA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2552700" y="3480797"/>
            <a:ext cx="2897124" cy="207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Créditos GD injetados na rede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0" y="1211838"/>
            <a:ext cx="6062472" cy="438912"/>
          </a:xfrm>
          <a:prstGeom prst="rect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760720" y="1211838"/>
            <a:ext cx="5879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Termos Principais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0" y="1686495"/>
            <a:ext cx="6062472" cy="349135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5760720" y="1702289"/>
            <a:ext cx="20116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Modalidade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818120" y="1702289"/>
            <a:ext cx="38404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Autoconsumo Remoto — Rateio Fixo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669280" y="2088831"/>
            <a:ext cx="6062472" cy="349135"/>
          </a:xfrm>
          <a:prstGeom prst="rect">
            <a:avLst/>
          </a:prstGeom>
          <a:solidFill>
            <a:srgbClr val="F5F8FA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5760720" y="2104625"/>
            <a:ext cx="20116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Estrutura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818120" y="2104625"/>
            <a:ext cx="38404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Contrato de Locação da Usina + O&amp;M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669280" y="2491167"/>
            <a:ext cx="6062472" cy="349135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5760720" y="2506961"/>
            <a:ext cx="20116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Vigência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818120" y="2506961"/>
            <a:ext cx="38404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24 meses (Jun/2026–Mai/2028)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669280" y="2893503"/>
            <a:ext cx="6062472" cy="349135"/>
          </a:xfrm>
          <a:prstGeom prst="rect">
            <a:avLst/>
          </a:prstGeom>
          <a:solidFill>
            <a:srgbClr val="F5F8FA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5760720" y="2909297"/>
            <a:ext cx="20116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Take-or-Pay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818120" y="2909297"/>
            <a:ext cx="38404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100% da energia injetada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669280" y="3295839"/>
            <a:ext cx="6062472" cy="349135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5760720" y="3311633"/>
            <a:ext cx="20116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Remuneração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818120" y="3311633"/>
            <a:ext cx="38404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R$ 0,4425/kWh energia injetada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669280" y="3698175"/>
            <a:ext cx="6062472" cy="349135"/>
          </a:xfrm>
          <a:prstGeom prst="rect">
            <a:avLst/>
          </a:prstGeom>
          <a:solidFill>
            <a:srgbClr val="F5F8FA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5760720" y="3713969"/>
            <a:ext cx="20116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Rateio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818120" y="3713969"/>
            <a:ext cx="38404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4 períodos — percentuais fixos por UC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669280" y="4100511"/>
            <a:ext cx="6062472" cy="349135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5760720" y="4116305"/>
            <a:ext cx="20116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NDU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818120" y="4116305"/>
            <a:ext cx="38404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Notificação ANEEL (Energisa MS)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669280" y="4502847"/>
            <a:ext cx="6062472" cy="349135"/>
          </a:xfrm>
          <a:prstGeom prst="rect">
            <a:avLst/>
          </a:prstGeom>
          <a:solidFill>
            <a:srgbClr val="F5F8FA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8"/>
          <p:cNvSpPr/>
          <p:nvPr/>
        </p:nvSpPr>
        <p:spPr>
          <a:xfrm>
            <a:off x="5760720" y="4518641"/>
            <a:ext cx="20116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Garantia créditos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818120" y="4518641"/>
            <a:ext cx="38404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Lei 14.300 — válidos até 2045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669280" y="4905183"/>
            <a:ext cx="6062472" cy="349135"/>
          </a:xfrm>
          <a:prstGeom prst="rect">
            <a:avLst/>
          </a:prstGeom>
          <a:solidFill>
            <a:srgbClr val="FFFFFF"/>
          </a:solidFill>
          <a:ln w="381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1"/>
          <p:cNvSpPr/>
          <p:nvPr/>
        </p:nvSpPr>
        <p:spPr>
          <a:xfrm>
            <a:off x="5760720" y="4920977"/>
            <a:ext cx="20116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Prazo contratual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818120" y="4920977"/>
            <a:ext cx="3840480" cy="299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4B70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Renovação automática prevista</a:t>
            </a:r>
            <a:endParaRPr lang="en-US" sz="900" dirty="0"/>
          </a:p>
        </p:txBody>
      </p:sp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1F1EA1CA-79D1-F255-CC9B-55C6D2895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11" y="6292789"/>
            <a:ext cx="1030504" cy="22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1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"/>
          <p:cNvSpPr/>
          <p:nvPr/>
        </p:nvSpPr>
        <p:spPr>
          <a:xfrm>
            <a:off x="660400" y="1349384"/>
            <a:ext cx="0" cy="4387835"/>
          </a:xfrm>
          <a:prstGeom prst="line">
            <a:avLst/>
          </a:prstGeom>
          <a:noFill/>
          <a:ln w="1905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2" name="Text 0"/>
          <p:cNvSpPr/>
          <p:nvPr/>
        </p:nvSpPr>
        <p:spPr>
          <a:xfrm>
            <a:off x="421538" y="271577"/>
            <a:ext cx="9875520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 err="1">
                <a:solidFill>
                  <a:srgbClr val="004B70"/>
                </a:solidFill>
                <a:latin typeface="Geologica" pitchFamily="2" charset="0"/>
              </a:rPr>
              <a:t>Próximos</a:t>
            </a:r>
            <a:r>
              <a:rPr lang="en-US" sz="2800" dirty="0">
                <a:solidFill>
                  <a:srgbClr val="004B70"/>
                </a:solidFill>
                <a:latin typeface="Geologica" pitchFamily="2" charset="0"/>
              </a:rPr>
              <a:t> Passos — Cronograma de </a:t>
            </a:r>
            <a:r>
              <a:rPr lang="en-US" sz="2800" dirty="0" err="1">
                <a:solidFill>
                  <a:srgbClr val="004B70"/>
                </a:solidFill>
                <a:latin typeface="Geologica" pitchFamily="2" charset="0"/>
              </a:rPr>
              <a:t>Assinatura</a:t>
            </a:r>
            <a:endParaRPr lang="en-US" sz="2800" dirty="0">
              <a:solidFill>
                <a:srgbClr val="004B70"/>
              </a:solidFill>
              <a:latin typeface="Geologica" pitchFamily="2" charset="0"/>
            </a:endParaRPr>
          </a:p>
        </p:txBody>
      </p:sp>
      <p:sp>
        <p:nvSpPr>
          <p:cNvPr id="998" name="GradLine"/>
          <p:cNvSpPr>
            <a:spLocks noGrp="1"/>
          </p:cNvSpPr>
          <p:nvPr/>
        </p:nvSpPr>
        <p:spPr>
          <a:xfrm>
            <a:off x="421538" y="920801"/>
            <a:ext cx="11404397" cy="53950"/>
          </a:xfrm>
          <a:prstGeom prst="rect">
            <a:avLst/>
          </a:prstGeom>
          <a:gradFill flip="none" rotWithShape="1">
            <a:gsLst>
              <a:gs pos="0">
                <a:srgbClr val="004B70"/>
              </a:gs>
              <a:gs pos="60000">
                <a:srgbClr val="30937B"/>
              </a:gs>
              <a:gs pos="100000">
                <a:srgbClr val="C6DA38"/>
              </a:gs>
            </a:gsLst>
            <a:lin ang="0" scaled="1"/>
            <a:tileRect/>
          </a:gra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11" y="6292789"/>
            <a:ext cx="1030504" cy="2248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39105" y="636331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601200" y="6291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92A8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helexia.group</a:t>
            </a:r>
            <a:endParaRPr lang="en-US" sz="1200" dirty="0">
              <a:latin typeface="Geologica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19100" y="1252354"/>
            <a:ext cx="482600" cy="482600"/>
          </a:xfrm>
          <a:prstGeom prst="ellipse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8" name="Text 5"/>
          <p:cNvSpPr/>
          <p:nvPr/>
        </p:nvSpPr>
        <p:spPr>
          <a:xfrm>
            <a:off x="419100" y="1252354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01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79500" y="1290454"/>
            <a:ext cx="965200" cy="254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11" name="Text 8"/>
          <p:cNvSpPr/>
          <p:nvPr/>
        </p:nvSpPr>
        <p:spPr>
          <a:xfrm>
            <a:off x="1079500" y="1290454"/>
            <a:ext cx="965200" cy="254000"/>
          </a:xfrm>
          <a:prstGeom prst="rect">
            <a:avLst/>
          </a:prstGeom>
          <a:solidFill>
            <a:srgbClr val="2F927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Concluído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159000" y="1226954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Alinhamento Comercial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159000" y="1480954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Validação das premissas de consumo e rateio. </a:t>
            </a:r>
          </a:p>
        </p:txBody>
      </p:sp>
      <p:sp>
        <p:nvSpPr>
          <p:cNvPr id="14" name="Shape 11"/>
          <p:cNvSpPr/>
          <p:nvPr/>
        </p:nvSpPr>
        <p:spPr>
          <a:xfrm>
            <a:off x="1079500" y="1861954"/>
            <a:ext cx="10591800" cy="0"/>
          </a:xfrm>
          <a:prstGeom prst="line">
            <a:avLst/>
          </a:prstGeom>
          <a:noFill/>
          <a:ln w="508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19100" y="1963554"/>
            <a:ext cx="482600" cy="482600"/>
          </a:xfrm>
          <a:prstGeom prst="ellipse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16" name="Text 13"/>
          <p:cNvSpPr/>
          <p:nvPr/>
        </p:nvSpPr>
        <p:spPr>
          <a:xfrm>
            <a:off x="419100" y="1963554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02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60400" y="2446154"/>
            <a:ext cx="0" cy="228600"/>
          </a:xfrm>
          <a:prstGeom prst="line">
            <a:avLst/>
          </a:prstGeom>
          <a:noFill/>
          <a:ln w="1905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18" name="Shape 15"/>
          <p:cNvSpPr/>
          <p:nvPr/>
        </p:nvSpPr>
        <p:spPr>
          <a:xfrm>
            <a:off x="1079500" y="2001654"/>
            <a:ext cx="965200" cy="254000"/>
          </a:xfrm>
          <a:prstGeom prst="rect">
            <a:avLst/>
          </a:prstGeom>
          <a:solidFill>
            <a:srgbClr val="C5DA37"/>
          </a:solidFill>
          <a:ln w="12700">
            <a:solidFill>
              <a:srgbClr val="C5DA37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19" name="Text 16"/>
          <p:cNvSpPr/>
          <p:nvPr/>
        </p:nvSpPr>
        <p:spPr>
          <a:xfrm>
            <a:off x="1079500" y="2001654"/>
            <a:ext cx="96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Mar/2026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159000" y="1938154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Aprovação Comercial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159000" y="2192154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Aprovação comercial interna pela diretoria Copasul.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079500" y="2573154"/>
            <a:ext cx="10591800" cy="0"/>
          </a:xfrm>
          <a:prstGeom prst="line">
            <a:avLst/>
          </a:prstGeom>
          <a:noFill/>
          <a:ln w="508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419100" y="2674754"/>
            <a:ext cx="482600" cy="482600"/>
          </a:xfrm>
          <a:prstGeom prst="ellipse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24" name="Text 21"/>
          <p:cNvSpPr/>
          <p:nvPr/>
        </p:nvSpPr>
        <p:spPr>
          <a:xfrm>
            <a:off x="419100" y="2674754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03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60400" y="3157354"/>
            <a:ext cx="0" cy="228600"/>
          </a:xfrm>
          <a:prstGeom prst="line">
            <a:avLst/>
          </a:prstGeom>
          <a:noFill/>
          <a:ln w="1905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26" name="Shape 23"/>
          <p:cNvSpPr/>
          <p:nvPr/>
        </p:nvSpPr>
        <p:spPr>
          <a:xfrm>
            <a:off x="1079500" y="2712854"/>
            <a:ext cx="965200" cy="254000"/>
          </a:xfrm>
          <a:prstGeom prst="rect">
            <a:avLst/>
          </a:prstGeom>
          <a:solidFill>
            <a:srgbClr val="C5DA37"/>
          </a:solidFill>
          <a:ln w="12700">
            <a:solidFill>
              <a:srgbClr val="C5DA37"/>
            </a:solidFill>
            <a:prstDash val="solid"/>
          </a:ln>
        </p:spPr>
        <p:txBody>
          <a:bodyPr/>
          <a:lstStyle/>
          <a:p>
            <a:endParaRPr lang="fr-FR" sz="2800"/>
          </a:p>
        </p:txBody>
      </p:sp>
      <p:sp>
        <p:nvSpPr>
          <p:cNvPr id="27" name="Text 24"/>
          <p:cNvSpPr/>
          <p:nvPr/>
        </p:nvSpPr>
        <p:spPr>
          <a:xfrm>
            <a:off x="1079500" y="2712854"/>
            <a:ext cx="96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Mar/2026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159000" y="2585854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Revista Jurídica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159000" y="2903354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Revisão jurídica do contrato de locação e O&amp;M.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079500" y="3284354"/>
            <a:ext cx="10591800" cy="0"/>
          </a:xfrm>
          <a:prstGeom prst="line">
            <a:avLst/>
          </a:prstGeom>
          <a:noFill/>
          <a:ln w="508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8"/>
          <p:cNvSpPr/>
          <p:nvPr/>
        </p:nvSpPr>
        <p:spPr>
          <a:xfrm>
            <a:off x="419100" y="3385954"/>
            <a:ext cx="482600" cy="482600"/>
          </a:xfrm>
          <a:prstGeom prst="ellipse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32" name="Text 29"/>
          <p:cNvSpPr/>
          <p:nvPr/>
        </p:nvSpPr>
        <p:spPr>
          <a:xfrm>
            <a:off x="419100" y="3385954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04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60400" y="3868554"/>
            <a:ext cx="0" cy="228600"/>
          </a:xfrm>
          <a:prstGeom prst="line">
            <a:avLst/>
          </a:prstGeom>
          <a:noFill/>
          <a:ln w="1905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34" name="Shape 31"/>
          <p:cNvSpPr/>
          <p:nvPr/>
        </p:nvSpPr>
        <p:spPr>
          <a:xfrm>
            <a:off x="1079500" y="3424054"/>
            <a:ext cx="965200" cy="254000"/>
          </a:xfrm>
          <a:prstGeom prst="rect">
            <a:avLst/>
          </a:prstGeom>
          <a:solidFill>
            <a:srgbClr val="C5DA37"/>
          </a:solidFill>
          <a:ln w="12700">
            <a:solidFill>
              <a:srgbClr val="C5DA37"/>
            </a:solidFill>
            <a:prstDash val="solid"/>
          </a:ln>
        </p:spPr>
        <p:txBody>
          <a:bodyPr/>
          <a:lstStyle/>
          <a:p>
            <a:endParaRPr lang="fr-FR" sz="2800"/>
          </a:p>
        </p:txBody>
      </p:sp>
      <p:sp>
        <p:nvSpPr>
          <p:cNvPr id="35" name="Text 32"/>
          <p:cNvSpPr/>
          <p:nvPr/>
        </p:nvSpPr>
        <p:spPr>
          <a:xfrm>
            <a:off x="1079500" y="3424054"/>
            <a:ext cx="96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31/03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2159000" y="3360554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Visita Usina de Cassilândia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2159000" y="3614554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Visita técnica da equipe Copasul à usina solar CS3 em Cassilândia.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1079500" y="3995554"/>
            <a:ext cx="10591800" cy="0"/>
          </a:xfrm>
          <a:prstGeom prst="line">
            <a:avLst/>
          </a:prstGeom>
          <a:noFill/>
          <a:ln w="5080">
            <a:solidFill>
              <a:srgbClr val="CCDB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6"/>
          <p:cNvSpPr/>
          <p:nvPr/>
        </p:nvSpPr>
        <p:spPr>
          <a:xfrm>
            <a:off x="419100" y="4097154"/>
            <a:ext cx="482600" cy="482600"/>
          </a:xfrm>
          <a:prstGeom prst="ellipse">
            <a:avLst/>
          </a:prstGeom>
          <a:solidFill>
            <a:srgbClr val="004B70"/>
          </a:solidFill>
          <a:ln w="12700">
            <a:solidFill>
              <a:srgbClr val="004B70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40" name="Text 37"/>
          <p:cNvSpPr/>
          <p:nvPr/>
        </p:nvSpPr>
        <p:spPr>
          <a:xfrm>
            <a:off x="419100" y="4097154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05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1079500" y="4135254"/>
            <a:ext cx="965200" cy="254000"/>
          </a:xfrm>
          <a:prstGeom prst="rect">
            <a:avLst/>
          </a:prstGeom>
          <a:solidFill>
            <a:srgbClr val="C5DA37"/>
          </a:solidFill>
          <a:ln w="12700">
            <a:solidFill>
              <a:srgbClr val="C5DA37"/>
            </a:solidFill>
            <a:prstDash val="solid"/>
          </a:ln>
        </p:spPr>
        <p:txBody>
          <a:bodyPr/>
          <a:lstStyle/>
          <a:p>
            <a:endParaRPr lang="fr-FR" sz="2800"/>
          </a:p>
        </p:txBody>
      </p:sp>
      <p:sp>
        <p:nvSpPr>
          <p:cNvPr id="42" name="Text 39"/>
          <p:cNvSpPr/>
          <p:nvPr/>
        </p:nvSpPr>
        <p:spPr>
          <a:xfrm>
            <a:off x="1079500" y="4135254"/>
            <a:ext cx="96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Abr/2026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2159000" y="4071754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Assinatura Contratual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2159000" y="4325754"/>
            <a:ext cx="952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Assinatura do Contrato de Locação + O&amp;M. Notificação ANEEL (NDU) para habilitação do rateio.</a:t>
            </a:r>
            <a:endParaRPr lang="en-US" sz="1000" dirty="0"/>
          </a:p>
        </p:txBody>
      </p:sp>
      <p:sp>
        <p:nvSpPr>
          <p:cNvPr id="100" name="Step6Circle"/>
          <p:cNvSpPr/>
          <p:nvPr/>
        </p:nvSpPr>
        <p:spPr>
          <a:xfrm>
            <a:off x="419100" y="4744854"/>
            <a:ext cx="482600" cy="482600"/>
          </a:xfrm>
          <a:prstGeom prst="ellipse">
            <a:avLst/>
          </a:prstGeom>
          <a:solidFill>
            <a:srgbClr val="004B70"/>
          </a:solidFill>
          <a:ln>
            <a:noFill/>
          </a:ln>
        </p:spPr>
        <p:txBody>
          <a:bodyPr wrap="none" lIns="0" tIns="0" rIns="0" bIns="0" anchor="ctr"/>
          <a:lstStyle/>
          <a:p>
            <a:endParaRPr lang="en-US" sz="2400"/>
          </a:p>
        </p:txBody>
      </p:sp>
      <p:sp>
        <p:nvSpPr>
          <p:cNvPr id="101" name="Step6Num"/>
          <p:cNvSpPr/>
          <p:nvPr/>
        </p:nvSpPr>
        <p:spPr>
          <a:xfrm>
            <a:off x="419100" y="4744854"/>
            <a:ext cx="482600" cy="482600"/>
          </a:xfrm>
          <a:prstGeom prst="ellipse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06</a:t>
            </a:r>
            <a:endParaRPr lang="en-US" sz="1400" dirty="0"/>
          </a:p>
        </p:txBody>
      </p:sp>
      <p:sp>
        <p:nvSpPr>
          <p:cNvPr id="102" name="Step6Badge"/>
          <p:cNvSpPr/>
          <p:nvPr/>
        </p:nvSpPr>
        <p:spPr>
          <a:xfrm>
            <a:off x="1079500" y="4782954"/>
            <a:ext cx="965200" cy="254000"/>
          </a:xfrm>
          <a:prstGeom prst="roundRect">
            <a:avLst>
              <a:gd name="adj" fmla="val 50000"/>
            </a:avLst>
          </a:prstGeom>
          <a:solidFill>
            <a:srgbClr val="D6E4EC"/>
          </a:solidFill>
          <a:ln>
            <a:noFill/>
          </a:ln>
        </p:spPr>
        <p:txBody>
          <a:bodyPr wrap="none" lIns="0" tIns="0" rIns="0" bIns="0" anchor="ctr"/>
          <a:lstStyle/>
          <a:p>
            <a:endParaRPr lang="en-US" sz="2800"/>
          </a:p>
        </p:txBody>
      </p:sp>
      <p:sp>
        <p:nvSpPr>
          <p:cNvPr id="103" name="Step6BadgeText"/>
          <p:cNvSpPr/>
          <p:nvPr/>
        </p:nvSpPr>
        <p:spPr>
          <a:xfrm>
            <a:off x="1079500" y="4782954"/>
            <a:ext cx="965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Mai/2026</a:t>
            </a:r>
            <a:endParaRPr lang="en-US" sz="900" dirty="0"/>
          </a:p>
        </p:txBody>
      </p:sp>
      <p:sp>
        <p:nvSpPr>
          <p:cNvPr id="104" name="Step6Title"/>
          <p:cNvSpPr/>
          <p:nvPr/>
        </p:nvSpPr>
        <p:spPr>
          <a:xfrm>
            <a:off x="2159000" y="4719454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Habilitação NDU Energisa</a:t>
            </a:r>
            <a:endParaRPr lang="en-US" sz="1100" dirty="0"/>
          </a:p>
        </p:txBody>
      </p:sp>
      <p:sp>
        <p:nvSpPr>
          <p:cNvPr id="105" name="Step6Desc"/>
          <p:cNvSpPr/>
          <p:nvPr/>
        </p:nvSpPr>
        <p:spPr>
          <a:xfrm>
            <a:off x="2159000" y="4973454"/>
            <a:ext cx="952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Energisa MS processa o NDU. Prazo regulatório: ~30 dias úteis.</a:t>
            </a:r>
            <a:endParaRPr lang="en-US" sz="1000" dirty="0"/>
          </a:p>
        </p:txBody>
      </p:sp>
      <p:sp>
        <p:nvSpPr>
          <p:cNvPr id="107" name="Step6HLine"/>
          <p:cNvSpPr/>
          <p:nvPr/>
        </p:nvSpPr>
        <p:spPr>
          <a:xfrm>
            <a:off x="1079500" y="5354454"/>
            <a:ext cx="10591800" cy="0"/>
          </a:xfrm>
          <a:prstGeom prst="line">
            <a:avLst/>
          </a:prstGeom>
          <a:ln w="6350">
            <a:solidFill>
              <a:srgbClr val="D6E4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Step7Circle"/>
          <p:cNvSpPr/>
          <p:nvPr/>
        </p:nvSpPr>
        <p:spPr>
          <a:xfrm>
            <a:off x="419100" y="5443354"/>
            <a:ext cx="482600" cy="482600"/>
          </a:xfrm>
          <a:prstGeom prst="ellipse">
            <a:avLst/>
          </a:prstGeom>
          <a:solidFill>
            <a:srgbClr val="004B70"/>
          </a:solidFill>
          <a:ln>
            <a:noFill/>
          </a:ln>
        </p:spPr>
        <p:txBody>
          <a:bodyPr wrap="none" lIns="0" tIns="0" rIns="0" bIns="0" anchor="ctr"/>
          <a:lstStyle/>
          <a:p>
            <a:endParaRPr lang="en-US" sz="2400"/>
          </a:p>
        </p:txBody>
      </p:sp>
      <p:sp>
        <p:nvSpPr>
          <p:cNvPr id="109" name="Step7Num"/>
          <p:cNvSpPr/>
          <p:nvPr/>
        </p:nvSpPr>
        <p:spPr>
          <a:xfrm>
            <a:off x="419100" y="5443354"/>
            <a:ext cx="482600" cy="482600"/>
          </a:xfrm>
          <a:prstGeom prst="ellipse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07</a:t>
            </a:r>
            <a:endParaRPr lang="en-US" sz="1400" dirty="0"/>
          </a:p>
        </p:txBody>
      </p:sp>
      <p:sp>
        <p:nvSpPr>
          <p:cNvPr id="110" name="Step7Badge"/>
          <p:cNvSpPr/>
          <p:nvPr/>
        </p:nvSpPr>
        <p:spPr>
          <a:xfrm>
            <a:off x="1079500" y="5481454"/>
            <a:ext cx="965200" cy="254000"/>
          </a:xfrm>
          <a:prstGeom prst="roundRect">
            <a:avLst>
              <a:gd name="adj" fmla="val 50000"/>
            </a:avLst>
          </a:prstGeom>
          <a:solidFill>
            <a:srgbClr val="D6E4EC"/>
          </a:solidFill>
          <a:ln>
            <a:noFill/>
          </a:ln>
        </p:spPr>
        <p:txBody>
          <a:bodyPr wrap="none" lIns="0" tIns="0" rIns="0" bIns="0" anchor="ctr"/>
          <a:lstStyle/>
          <a:p>
            <a:endParaRPr lang="en-US" sz="2800"/>
          </a:p>
        </p:txBody>
      </p:sp>
      <p:sp>
        <p:nvSpPr>
          <p:cNvPr id="111" name="Step7BadgeText"/>
          <p:cNvSpPr/>
          <p:nvPr/>
        </p:nvSpPr>
        <p:spPr>
          <a:xfrm>
            <a:off x="1079500" y="5481454"/>
            <a:ext cx="965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Jun/2026</a:t>
            </a:r>
            <a:endParaRPr lang="en-US" sz="900" dirty="0"/>
          </a:p>
        </p:txBody>
      </p:sp>
      <p:sp>
        <p:nvSpPr>
          <p:cNvPr id="112" name="Step7Title"/>
          <p:cNvSpPr/>
          <p:nvPr/>
        </p:nvSpPr>
        <p:spPr>
          <a:xfrm>
            <a:off x="2159000" y="5417954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4B70"/>
                </a:solidFill>
                <a:latin typeface="Geologica" pitchFamily="2" charset="0"/>
                <a:ea typeface="Geologica" pitchFamily="2" charset="-122"/>
                <a:cs typeface="Geologica" pitchFamily="2" charset="-120"/>
              </a:rPr>
              <a:t>Início do Contrato</a:t>
            </a:r>
            <a:endParaRPr lang="en-US" sz="1100" dirty="0"/>
          </a:p>
        </p:txBody>
      </p:sp>
      <p:sp>
        <p:nvSpPr>
          <p:cNvPr id="113" name="Step7Desc"/>
          <p:cNvSpPr/>
          <p:nvPr/>
        </p:nvSpPr>
        <p:spPr>
          <a:xfrm>
            <a:off x="2159000" y="5671954"/>
            <a:ext cx="952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65E73"/>
                </a:solidFill>
                <a:latin typeface="Geologica Light" pitchFamily="2" charset="0"/>
                <a:ea typeface="Geologica Light" pitchFamily="2" charset="-122"/>
                <a:cs typeface="Geologica Light" pitchFamily="2" charset="-120"/>
              </a:rPr>
              <a:t>Primeiro crédito GD alocado às 18 UCs. Início da economia mensal para Copasul.</a:t>
            </a:r>
            <a:endParaRPr lang="en-US" sz="1000" dirty="0"/>
          </a:p>
        </p:txBody>
      </p:sp>
      <p:sp>
        <p:nvSpPr>
          <p:cNvPr id="115" name="Step5HLine"/>
          <p:cNvSpPr/>
          <p:nvPr/>
        </p:nvSpPr>
        <p:spPr>
          <a:xfrm>
            <a:off x="1079500" y="4572000"/>
            <a:ext cx="10591800" cy="0"/>
          </a:xfrm>
          <a:prstGeom prst="line">
            <a:avLst/>
          </a:prstGeom>
          <a:ln w="6350">
            <a:solidFill>
              <a:srgbClr val="D6E4EC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45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6"/>
          <p:cNvSpPr/>
          <p:nvPr/>
        </p:nvSpPr>
        <p:spPr>
          <a:xfrm>
            <a:off x="9144000" y="6291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helexia.group</a:t>
            </a:r>
            <a:endParaRPr lang="en-US" sz="1200" dirty="0">
              <a:latin typeface="Geologica" pitchFamily="2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9884BFE-BC56-196D-2302-E69CD0E0219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11447" y="5611310"/>
            <a:ext cx="2104078" cy="266452"/>
          </a:xfrm>
        </p:spPr>
        <p:txBody>
          <a:bodyPr anchor="ctr"/>
          <a:lstStyle/>
          <a:p>
            <a:r>
              <a:rPr lang="fr-FR" sz="1200" dirty="0"/>
              <a:t>louis.demoffarts@helexia.eu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75C379-E730-67B0-D7CE-189958C825A3}"/>
              </a:ext>
            </a:extLst>
          </p:cNvPr>
          <p:cNvSpPr txBox="1"/>
          <p:nvPr/>
        </p:nvSpPr>
        <p:spPr>
          <a:xfrm>
            <a:off x="1011447" y="6056043"/>
            <a:ext cx="2036554" cy="258532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>
                <a:solidFill>
                  <a:srgbClr val="004B70"/>
                </a:solidFill>
                <a:latin typeface="Geologica Light" pitchFamily="2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>
                <a:solidFill>
                  <a:srgbClr val="004B70"/>
                </a:solidFill>
                <a:latin typeface="Geologica Light" pitchFamily="2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>
                <a:solidFill>
                  <a:srgbClr val="004B70"/>
                </a:solidFill>
                <a:latin typeface="Geologica Light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+55 21 99869 0864</a:t>
            </a:r>
            <a:endParaRPr lang="fr-FR" dirty="0"/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DD5E76F1-3D9A-0952-0791-473425846FC6}"/>
              </a:ext>
            </a:extLst>
          </p:cNvPr>
          <p:cNvSpPr txBox="1">
            <a:spLocks/>
          </p:cNvSpPr>
          <p:nvPr/>
        </p:nvSpPr>
        <p:spPr>
          <a:xfrm>
            <a:off x="640080" y="4902861"/>
            <a:ext cx="2104078" cy="266452"/>
          </a:xfrm>
          <a:prstGeom prst="rect">
            <a:avLst/>
          </a:prstGeom>
          <a:ln>
            <a:noFill/>
          </a:ln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04B70"/>
                </a:solidFill>
                <a:latin typeface="Geologica Light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04B70"/>
                </a:solidFill>
                <a:latin typeface="Geologica Light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04B70"/>
                </a:solidFill>
                <a:latin typeface="Geologica Light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04B70"/>
                </a:solidFill>
                <a:latin typeface="Geologica Light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004B70"/>
                </a:solidFill>
                <a:latin typeface="Geologica Ligh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Louis de Moffarts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F71E9E1B-8C45-19A8-7A2B-14B84FECB997}"/>
              </a:ext>
            </a:extLst>
          </p:cNvPr>
          <p:cNvSpPr txBox="1">
            <a:spLocks/>
          </p:cNvSpPr>
          <p:nvPr/>
        </p:nvSpPr>
        <p:spPr>
          <a:xfrm>
            <a:off x="612376" y="5193976"/>
            <a:ext cx="2529465" cy="266452"/>
          </a:xfrm>
          <a:prstGeom prst="rect">
            <a:avLst/>
          </a:prstGeom>
          <a:ln>
            <a:noFill/>
          </a:ln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04B70"/>
                </a:solidFill>
                <a:latin typeface="Geologica Light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04B70"/>
                </a:solidFill>
                <a:latin typeface="Geologica Light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04B70"/>
                </a:solidFill>
                <a:latin typeface="Geologica Light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04B70"/>
                </a:solidFill>
                <a:latin typeface="Geologica Light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004B70"/>
                </a:solidFill>
                <a:latin typeface="Geologica Ligh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Market</a:t>
            </a:r>
            <a:r>
              <a:rPr lang="en-US" sz="1200" i="1" dirty="0">
                <a:solidFill>
                  <a:srgbClr val="FFEB66"/>
                </a:solidFill>
                <a:latin typeface="Geologica" pitchFamily="2" charset="0"/>
                <a:ea typeface="Geologica Light" pitchFamily="2" charset="-122"/>
                <a:cs typeface="Geologica Light" pitchFamily="2" charset="-120"/>
              </a:rPr>
              <a:t> </a:t>
            </a:r>
            <a:r>
              <a:rPr lang="en-US" sz="1200" dirty="0"/>
              <a:t>Intelligence Specialist</a:t>
            </a:r>
          </a:p>
        </p:txBody>
      </p:sp>
    </p:spTree>
    <p:extLst>
      <p:ext uri="{BB962C8B-B14F-4D97-AF65-F5344CB8AC3E}">
        <p14:creationId xmlns:p14="http://schemas.microsoft.com/office/powerpoint/2010/main" val="26958822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Helexia new colours">
      <a:dk1>
        <a:srgbClr val="565E73"/>
      </a:dk1>
      <a:lt1>
        <a:srgbClr val="FFFFFF"/>
      </a:lt1>
      <a:dk2>
        <a:srgbClr val="004B70"/>
      </a:dk2>
      <a:lt2>
        <a:srgbClr val="CCDBE2"/>
      </a:lt2>
      <a:accent1>
        <a:srgbClr val="6692A8"/>
      </a:accent1>
      <a:accent2>
        <a:srgbClr val="FFEB66"/>
      </a:accent2>
      <a:accent3>
        <a:srgbClr val="C5DA37"/>
      </a:accent3>
      <a:accent4>
        <a:srgbClr val="2F927B"/>
      </a:accent4>
      <a:accent5>
        <a:srgbClr val="ED6D4F"/>
      </a:accent5>
      <a:accent6>
        <a:srgbClr val="B31D5E"/>
      </a:accent6>
      <a:hlink>
        <a:srgbClr val="004B70"/>
      </a:hlink>
      <a:folHlink>
        <a:srgbClr val="6692A8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_Pres_ES_v1" id="{3D096F29-6A0A-AB4F-985E-91374485B648}" vid="{4030B950-AD3A-4A48-8E11-A0569310E7E1}"/>
    </a:ext>
  </a:extLst>
</a:theme>
</file>

<file path=ppt/theme/theme2.xml><?xml version="1.0" encoding="utf-8"?>
<a:theme xmlns:a="http://schemas.openxmlformats.org/drawingml/2006/main" name="1_Helexia Blue Slide - AGENDA TOC">
  <a:themeElements>
    <a:clrScheme name="Helexia new colours">
      <a:dk1>
        <a:srgbClr val="565E73"/>
      </a:dk1>
      <a:lt1>
        <a:srgbClr val="FFFFFF"/>
      </a:lt1>
      <a:dk2>
        <a:srgbClr val="004B70"/>
      </a:dk2>
      <a:lt2>
        <a:srgbClr val="CCDBE2"/>
      </a:lt2>
      <a:accent1>
        <a:srgbClr val="6692A8"/>
      </a:accent1>
      <a:accent2>
        <a:srgbClr val="FFEB66"/>
      </a:accent2>
      <a:accent3>
        <a:srgbClr val="C5DA37"/>
      </a:accent3>
      <a:accent4>
        <a:srgbClr val="2F927B"/>
      </a:accent4>
      <a:accent5>
        <a:srgbClr val="ED6D4F"/>
      </a:accent5>
      <a:accent6>
        <a:srgbClr val="B31D5E"/>
      </a:accent6>
      <a:hlink>
        <a:srgbClr val="004B70"/>
      </a:hlink>
      <a:folHlink>
        <a:srgbClr val="6692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_Pres_ES_v1" id="{3D096F29-6A0A-AB4F-985E-91374485B648}" vid="{DE62FE5B-0F97-7040-9A5D-F6F79C2D6635}"/>
    </a:ext>
  </a:extLst>
</a:theme>
</file>

<file path=ppt/theme/theme3.xml><?xml version="1.0" encoding="utf-8"?>
<a:theme xmlns:a="http://schemas.openxmlformats.org/drawingml/2006/main" name="Helexia Gradient Bckgd">
  <a:themeElements>
    <a:clrScheme name="Helexia new colours">
      <a:dk1>
        <a:srgbClr val="565E73"/>
      </a:dk1>
      <a:lt1>
        <a:srgbClr val="FFFFFF"/>
      </a:lt1>
      <a:dk2>
        <a:srgbClr val="004B70"/>
      </a:dk2>
      <a:lt2>
        <a:srgbClr val="CCDBE2"/>
      </a:lt2>
      <a:accent1>
        <a:srgbClr val="6692A8"/>
      </a:accent1>
      <a:accent2>
        <a:srgbClr val="FFEB66"/>
      </a:accent2>
      <a:accent3>
        <a:srgbClr val="C5DA37"/>
      </a:accent3>
      <a:accent4>
        <a:srgbClr val="2F927B"/>
      </a:accent4>
      <a:accent5>
        <a:srgbClr val="ED6D4F"/>
      </a:accent5>
      <a:accent6>
        <a:srgbClr val="B31D5E"/>
      </a:accent6>
      <a:hlink>
        <a:srgbClr val="004B70"/>
      </a:hlink>
      <a:folHlink>
        <a:srgbClr val="6692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_Pres_ES_v1" id="{3D096F29-6A0A-AB4F-985E-91374485B648}" vid="{51C5A4B7-7D18-2049-8791-A2D8E595C177}"/>
    </a:ext>
  </a:extLst>
</a:theme>
</file>

<file path=ppt/theme/theme4.xml><?xml version="1.0" encoding="utf-8"?>
<a:theme xmlns:a="http://schemas.openxmlformats.org/drawingml/2006/main" name="Content slide master">
  <a:themeElements>
    <a:clrScheme name="Helexia new colours">
      <a:dk1>
        <a:srgbClr val="565E73"/>
      </a:dk1>
      <a:lt1>
        <a:srgbClr val="FFFFFF"/>
      </a:lt1>
      <a:dk2>
        <a:srgbClr val="004B70"/>
      </a:dk2>
      <a:lt2>
        <a:srgbClr val="CCDBE2"/>
      </a:lt2>
      <a:accent1>
        <a:srgbClr val="6692A8"/>
      </a:accent1>
      <a:accent2>
        <a:srgbClr val="FFEB66"/>
      </a:accent2>
      <a:accent3>
        <a:srgbClr val="C5DA37"/>
      </a:accent3>
      <a:accent4>
        <a:srgbClr val="2F927B"/>
      </a:accent4>
      <a:accent5>
        <a:srgbClr val="ED6D4F"/>
      </a:accent5>
      <a:accent6>
        <a:srgbClr val="B31D5E"/>
      </a:accent6>
      <a:hlink>
        <a:srgbClr val="004B70"/>
      </a:hlink>
      <a:folHlink>
        <a:srgbClr val="6692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CDBE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Blank_Pres_ES_v1" id="{3D096F29-6A0A-AB4F-985E-91374485B648}" vid="{3287BB11-F32C-9D4B-90C9-16579FD772C3}"/>
    </a:ext>
  </a:extLst>
</a:theme>
</file>

<file path=ppt/theme/theme5.xml><?xml version="1.0" encoding="utf-8"?>
<a:theme xmlns:a="http://schemas.openxmlformats.org/drawingml/2006/main" name="End Slide to complete">
  <a:themeElements>
    <a:clrScheme name="Helexia new colours">
      <a:dk1>
        <a:srgbClr val="565E73"/>
      </a:dk1>
      <a:lt1>
        <a:srgbClr val="FFFFFF"/>
      </a:lt1>
      <a:dk2>
        <a:srgbClr val="004B70"/>
      </a:dk2>
      <a:lt2>
        <a:srgbClr val="CCDBE2"/>
      </a:lt2>
      <a:accent1>
        <a:srgbClr val="6692A8"/>
      </a:accent1>
      <a:accent2>
        <a:srgbClr val="FFEB66"/>
      </a:accent2>
      <a:accent3>
        <a:srgbClr val="C5DA37"/>
      </a:accent3>
      <a:accent4>
        <a:srgbClr val="2F927B"/>
      </a:accent4>
      <a:accent5>
        <a:srgbClr val="ED6D4F"/>
      </a:accent5>
      <a:accent6>
        <a:srgbClr val="B31D5E"/>
      </a:accent6>
      <a:hlink>
        <a:srgbClr val="004B70"/>
      </a:hlink>
      <a:folHlink>
        <a:srgbClr val="6692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_Pres_ES_v1" id="{3D096F29-6A0A-AB4F-985E-91374485B648}" vid="{D398921D-F099-3F4D-B32A-FF01254C44A0}"/>
    </a:ext>
  </a:extLst>
</a:theme>
</file>

<file path=ppt/theme/theme6.xml><?xml version="1.0" encoding="utf-8"?>
<a:theme xmlns:a="http://schemas.openxmlformats.org/drawingml/2006/main" name="Custom Design">
  <a:themeElements>
    <a:clrScheme name="Helexia new colours">
      <a:dk1>
        <a:srgbClr val="565E73"/>
      </a:dk1>
      <a:lt1>
        <a:srgbClr val="FFFFFF"/>
      </a:lt1>
      <a:dk2>
        <a:srgbClr val="004B70"/>
      </a:dk2>
      <a:lt2>
        <a:srgbClr val="CCDBE2"/>
      </a:lt2>
      <a:accent1>
        <a:srgbClr val="6692A8"/>
      </a:accent1>
      <a:accent2>
        <a:srgbClr val="FFEB66"/>
      </a:accent2>
      <a:accent3>
        <a:srgbClr val="C5DA37"/>
      </a:accent3>
      <a:accent4>
        <a:srgbClr val="2F927B"/>
      </a:accent4>
      <a:accent5>
        <a:srgbClr val="ED6D4F"/>
      </a:accent5>
      <a:accent6>
        <a:srgbClr val="B31D5E"/>
      </a:accent6>
      <a:hlink>
        <a:srgbClr val="004B70"/>
      </a:hlink>
      <a:folHlink>
        <a:srgbClr val="6692A8"/>
      </a:folHlink>
    </a:clrScheme>
    <a:fontScheme name="Century Gothic">
      <a:majorFont>
        <a:latin typeface="Geologica" panose="020F0302020204030204" pitchFamily="2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logica" panose="020F0302020204030204" pitchFamily="2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_Pres_ES_v1" id="{3D096F29-6A0A-AB4F-985E-91374485B648}" vid="{4030B950-AD3A-4A48-8E11-A0569310E7E1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C72347C-E476-47E6-AC80-07A60DFA1C21}">
  <we:reference id="wa200010001" version="1.0.0.1" store="en-US" storeType="OMEX"/>
  <we:alternateReferences>
    <we:reference id="wa200010001" version="1.0.0.1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3DB169B7D0164EBB451D9815457837" ma:contentTypeVersion="25" ma:contentTypeDescription="Create a new document." ma:contentTypeScope="" ma:versionID="e0093a18845207e7a1c92d5ff2682ef5">
  <xsd:schema xmlns:xsd="http://www.w3.org/2001/XMLSchema" xmlns:xs="http://www.w3.org/2001/XMLSchema" xmlns:p="http://schemas.microsoft.com/office/2006/metadata/properties" xmlns:ns1="http://schemas.microsoft.com/sharepoint/v3" xmlns:ns2="122fbbe7-ad41-4f8d-8132-9e48b1e044e5" xmlns:ns3="27c9cf3d-2e6b-44d0-878c-b09278bfc1e3" targetNamespace="http://schemas.microsoft.com/office/2006/metadata/properties" ma:root="true" ma:fieldsID="3171c37a83e8cfd096d2f2eab268810e" ns1:_="" ns2:_="" ns3:_="">
    <xsd:import namespace="http://schemas.microsoft.com/sharepoint/v3"/>
    <xsd:import namespace="122fbbe7-ad41-4f8d-8132-9e48b1e044e5"/>
    <xsd:import namespace="27c9cf3d-2e6b-44d0-878c-b09278bfc1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A_x00c7__x00c3_OCAUTELAR" minOccurs="0"/>
                <xsd:element ref="ns2:Contrato" minOccurs="0"/>
                <xsd:element ref="ns2:Escrit_x00f3_ri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2fbbe7-ad41-4f8d-8132-9e48b1e044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_Flow_SignoffStatus" ma:index="23" nillable="true" ma:displayName="État de validation" ma:internalName="_x00c9_tat_x0020_de_x0020_validation">
      <xsd:simpleType>
        <xsd:restriction base="dms:Text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dd05263a-6d8c-4071-9237-ce04de76bf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  <xsd:element name="A_x00c7__x00c3_OCAUTELAR" ma:index="30" nillable="true" ma:displayName="AÇÃO CAUTELAR" ma:format="Dropdown" ma:internalName="A_x00c7__x00c3_OCAUTELAR">
      <xsd:simpleType>
        <xsd:restriction base="dms:Note">
          <xsd:maxLength value="255"/>
        </xsd:restriction>
      </xsd:simpleType>
    </xsd:element>
    <xsd:element name="Contrato" ma:index="31" nillable="true" ma:displayName="Contrato" ma:format="Dropdown" ma:internalName="Contrato">
      <xsd:simpleType>
        <xsd:restriction base="dms:Text">
          <xsd:maxLength value="255"/>
        </xsd:restriction>
      </xsd:simpleType>
    </xsd:element>
    <xsd:element name="Escrit_x00f3_rio" ma:index="32" nillable="true" ma:displayName="Escritório" ma:format="Dropdown" ma:internalName="Escrit_x00f3_ri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9cf3d-2e6b-44d0-878c-b09278bfc1e3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5b60d43e-f6cb-4e05-a9eb-6051b1836e8f}" ma:internalName="TaxCatchAll" ma:showField="CatchAllData" ma:web="27c9cf3d-2e6b-44d0-878c-b09278bfc1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Flow_SignoffStatus xmlns="122fbbe7-ad41-4f8d-8132-9e48b1e044e5" xsi:nil="true"/>
    <TaxCatchAll xmlns="27c9cf3d-2e6b-44d0-878c-b09278bfc1e3" xsi:nil="true"/>
    <_ip_UnifiedCompliancePolicyProperties xmlns="http://schemas.microsoft.com/sharepoint/v3" xsi:nil="true"/>
    <lcf76f155ced4ddcb4097134ff3c332f xmlns="122fbbe7-ad41-4f8d-8132-9e48b1e044e5">
      <Terms xmlns="http://schemas.microsoft.com/office/infopath/2007/PartnerControls"/>
    </lcf76f155ced4ddcb4097134ff3c332f>
    <A_x00c7__x00c3_OCAUTELAR xmlns="122fbbe7-ad41-4f8d-8132-9e48b1e044e5" xsi:nil="true"/>
    <Contrato xmlns="122fbbe7-ad41-4f8d-8132-9e48b1e044e5" xsi:nil="true"/>
    <Escrit_x00f3_rio xmlns="122fbbe7-ad41-4f8d-8132-9e48b1e044e5" xsi:nil="true"/>
  </documentManagement>
</p:properties>
</file>

<file path=customXml/itemProps1.xml><?xml version="1.0" encoding="utf-8"?>
<ds:datastoreItem xmlns:ds="http://schemas.openxmlformats.org/officeDocument/2006/customXml" ds:itemID="{F42AD3FC-4AEA-4D89-BEBA-61622DD884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22fbbe7-ad41-4f8d-8132-9e48b1e044e5"/>
    <ds:schemaRef ds:uri="27c9cf3d-2e6b-44d0-878c-b09278bfc1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616B08-5D18-4324-BBCD-D39A8E69E5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E1A3D3-9A30-4D05-8522-D64B3614F7C5}">
  <ds:schemaRefs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27c9cf3d-2e6b-44d0-878c-b09278bfc1e3"/>
    <ds:schemaRef ds:uri="http://schemas.microsoft.com/office/2006/metadata/properties"/>
    <ds:schemaRef ds:uri="122fbbe7-ad41-4f8d-8132-9e48b1e044e5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1430</TotalTime>
  <Words>1955</Words>
  <Application>Microsoft Office PowerPoint</Application>
  <PresentationFormat>Widescreen</PresentationFormat>
  <Paragraphs>372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Arial</vt:lpstr>
      <vt:lpstr>Courier New</vt:lpstr>
      <vt:lpstr>Geologica</vt:lpstr>
      <vt:lpstr>Geologica ExtraLight</vt:lpstr>
      <vt:lpstr>Geologica Light</vt:lpstr>
      <vt:lpstr>Geologica Medium</vt:lpstr>
      <vt:lpstr>Geologica SemiBold</vt:lpstr>
      <vt:lpstr>System Font Regular</vt:lpstr>
      <vt:lpstr>Custom Design</vt:lpstr>
      <vt:lpstr>1_Helexia Blue Slide - AGENDA TOC</vt:lpstr>
      <vt:lpstr>Helexia Gradient Bckgd</vt:lpstr>
      <vt:lpstr>Content slide master</vt:lpstr>
      <vt:lpstr>End Slide to complete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Louis De Moffarts</cp:lastModifiedBy>
  <cp:revision>7</cp:revision>
  <dcterms:created xsi:type="dcterms:W3CDTF">2026-03-19T10:13:16Z</dcterms:created>
  <dcterms:modified xsi:type="dcterms:W3CDTF">2026-03-25T17:53:26Z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0x0101002E3DB169B7D0164EBB451D9815457837</vt:lpwstr>
  </property>
</Properties>
</file>